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6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137160"/>
            <a:ext cx="320040" cy="36576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137160"/>
            <a:ext cx="36576" cy="32004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lock Arc 3"/>
          <p:cNvSpPr/>
          <p:nvPr/>
        </p:nvSpPr>
        <p:spPr>
          <a:xfrm>
            <a:off x="457200" y="1389888"/>
            <a:ext cx="640080" cy="1828"/>
          </a:xfrm>
          <a:prstGeom prst="blockArc">
            <a:avLst/>
          </a:prstGeom>
          <a:noFill/>
          <a:ln w="9525">
            <a:solidFill>
              <a:srgbClr val="7A6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2984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A602A"/>
                </a:solidFill>
                <a:latin typeface="Calibri"/>
              </a:rPr>
              <a:t>ENCONTRO DA SEMANA</a:t>
            </a:r>
          </a:p>
        </p:txBody>
      </p:sp>
      <p:sp>
        <p:nvSpPr>
          <p:cNvPr id="6" name="Block Arc 5"/>
          <p:cNvSpPr/>
          <p:nvPr/>
        </p:nvSpPr>
        <p:spPr>
          <a:xfrm>
            <a:off x="3108960" y="1389888"/>
            <a:ext cx="1554480" cy="1828"/>
          </a:xfrm>
          <a:prstGeom prst="blockArc">
            <a:avLst/>
          </a:prstGeom>
          <a:noFill/>
          <a:ln w="9525">
            <a:solidFill>
              <a:srgbClr val="7A6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E8DCCB"/>
                </a:solidFill>
                <a:latin typeface="Calibri"/>
              </a:rPr>
              <a:t>COMO SE TORNAR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0" b="1" i="0">
                <a:solidFill>
                  <a:srgbClr val="C8A84B"/>
                </a:solidFill>
                <a:latin typeface="Calibri"/>
              </a:rPr>
              <a:t>UMA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43200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0" b="1" i="0">
                <a:solidFill>
                  <a:srgbClr val="C8A84B"/>
                </a:solidFill>
                <a:latin typeface="Calibri"/>
              </a:rPr>
              <a:t>MÁQUINA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2900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E8DCCB"/>
                </a:solidFill>
                <a:latin typeface="Calibri"/>
              </a:rPr>
              <a:t>DE VENDA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23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A84B"/>
                </a:solidFill>
                <a:latin typeface="Arial Unicode MS"/>
              </a:rPr>
              <a:t>——  ◆◇◆  ——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1596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A602A"/>
                </a:solidFill>
                <a:latin typeface="Calibri"/>
              </a:rPr>
              <a:t>ESTRATÉGIA  ·  MENTALIDADE  ·  PROCESSO  ·  RESULTADO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4572000"/>
            <a:ext cx="411480" cy="411480"/>
          </a:xfrm>
          <a:prstGeom prst="ellipse">
            <a:avLst/>
          </a:prstGeom>
          <a:noFill/>
          <a:ln w="19050">
            <a:solidFill>
              <a:srgbClr val="C8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59028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8A84B"/>
                </a:solidFill>
                <a:latin typeface="Calibri"/>
              </a:rPr>
              <a:t>MPA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92624" y="219456"/>
            <a:ext cx="3867912" cy="4553712"/>
          </a:xfrm>
          <a:prstGeom prst="rect">
            <a:avLst/>
          </a:prstGeom>
          <a:noFill/>
          <a:ln w="19050">
            <a:solidFill>
              <a:srgbClr val="C8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rafa-hero-n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56032"/>
            <a:ext cx="3794760" cy="448056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5486400" y="4846320"/>
            <a:ext cx="2834640" cy="347472"/>
          </a:xfrm>
          <a:prstGeom prst="round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0" y="4846320"/>
            <a:ext cx="2834640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 i="0">
                <a:solidFill>
                  <a:srgbClr val="200A14"/>
                </a:solidFill>
                <a:latin typeface="Calibri"/>
              </a:rPr>
              <a:t>RAFAELA NOGUEIRA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137160"/>
            <a:ext cx="320040" cy="36576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137160"/>
            <a:ext cx="36576" cy="32004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342900"/>
            <a:ext cx="320040" cy="13716"/>
          </a:xfrm>
          <a:prstGeom prst="rect">
            <a:avLst/>
          </a:prstGeom>
          <a:solidFill>
            <a:srgbClr val="7A6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274320"/>
            <a:ext cx="746150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7A602A"/>
                </a:solidFill>
                <a:latin typeface="Calibri"/>
              </a:rPr>
              <a:t>SOBRE MIM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0" y="342900"/>
            <a:ext cx="320040" cy="13716"/>
          </a:xfrm>
          <a:prstGeom prst="rect">
            <a:avLst/>
          </a:prstGeom>
          <a:solidFill>
            <a:srgbClr val="7A6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502920"/>
            <a:ext cx="8321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DCCB"/>
                </a:solidFill>
                <a:latin typeface="Calibri"/>
              </a:rPr>
              <a:t>QUEM É RAFAELA NOGUEIRA?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188720"/>
            <a:ext cx="8321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DCCB"/>
                </a:solidFill>
                <a:latin typeface="Calibri"/>
              </a:rPr>
              <a:t>Minha carreira sempre esteve ligada a uma única pergunta:
Como construir operações comerciais que crescem de forma previsível?
Nos últimos anos participei da construção de operações que geraram mais de R$ 120 milhões em vendas. Hoje sou sócia de um grupo empresarial que supera R$ 30 milhões de faturamento anual, liderando áreas de Receita, Comercial e Operações.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487168"/>
            <a:ext cx="54864" cy="77724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487168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C8A84B"/>
                </a:solidFill>
                <a:latin typeface="Calibri"/>
              </a:rPr>
              <a:t>R$ 120 Milhões+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443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9880"/>
                </a:solidFill>
                <a:latin typeface="Calibri"/>
              </a:rPr>
              <a:t>em vendas geradas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23160" y="2487168"/>
            <a:ext cx="54864" cy="77724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0" y="2487168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C8A84B"/>
                </a:solidFill>
                <a:latin typeface="Calibri"/>
              </a:rPr>
              <a:t>80+ pessoas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9443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9880"/>
                </a:solidFill>
                <a:latin typeface="Calibri"/>
              </a:rPr>
              <a:t>lideradas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2487168"/>
            <a:ext cx="54864" cy="77724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2487168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C8A84B"/>
                </a:solidFill>
                <a:latin typeface="Calibri"/>
              </a:rPr>
              <a:t>30+ operações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9443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9880"/>
                </a:solidFill>
                <a:latin typeface="Calibri"/>
              </a:rPr>
              <a:t>estruturadas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46520" y="2487168"/>
            <a:ext cx="54864" cy="77724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487168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C8A84B"/>
                </a:solidFill>
                <a:latin typeface="Calibri"/>
              </a:rPr>
              <a:t>Centenas
de vendedores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9443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9880"/>
                </a:solidFill>
                <a:latin typeface="Calibri"/>
              </a:rPr>
              <a:t>desenvolvidos</a:t>
            </a:r>
          </a:p>
        </p:txBody>
      </p:sp>
      <p:sp>
        <p:nvSpPr>
          <p:cNvPr id="21" name="Block Arc 20"/>
          <p:cNvSpPr/>
          <p:nvPr/>
        </p:nvSpPr>
        <p:spPr>
          <a:xfrm>
            <a:off x="411480" y="3401568"/>
            <a:ext cx="8321040" cy="1828"/>
          </a:xfrm>
          <a:prstGeom prst="blockArc">
            <a:avLst/>
          </a:prstGeom>
          <a:noFill/>
          <a:ln w="6350">
            <a:solidFill>
              <a:srgbClr val="7A6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3493008"/>
            <a:ext cx="8321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A602A"/>
                </a:solidFill>
                <a:latin typeface="Calibri"/>
              </a:rPr>
              <a:t>CREATOR ECONOMY  —  OPERAÇÕES EM QUE CONTRIBUÍ</a:t>
            </a:r>
          </a:p>
        </p:txBody>
      </p:sp>
      <p:sp>
        <p:nvSpPr>
          <p:cNvPr id="23" name="Oval 22"/>
          <p:cNvSpPr/>
          <p:nvPr/>
        </p:nvSpPr>
        <p:spPr>
          <a:xfrm>
            <a:off x="667512" y="3767328"/>
            <a:ext cx="457200" cy="457200"/>
          </a:xfrm>
          <a:prstGeom prst="ellipse">
            <a:avLst/>
          </a:prstGeom>
          <a:solidFill>
            <a:srgbClr val="4A1626"/>
          </a:solidFill>
          <a:ln w="9525">
            <a:solidFill>
              <a:srgbClr val="C8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" y="3785615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8A84B"/>
                </a:solidFill>
                <a:latin typeface="Calibri"/>
              </a:rPr>
              <a:t>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4251960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E8DCCB"/>
                </a:solidFill>
                <a:latin typeface="Calibri"/>
              </a:rPr>
              <a:t>Alex Solnado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4453128"/>
            <a:ext cx="10241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C8A84B"/>
                </a:solidFill>
                <a:latin typeface="Calibri"/>
              </a:rPr>
              <a:t>173K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4617720"/>
            <a:ext cx="10241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AA9880"/>
                </a:solidFill>
                <a:latin typeface="Calibri"/>
              </a:rPr>
              <a:t>Espiritualidade</a:t>
            </a:r>
          </a:p>
        </p:txBody>
      </p:sp>
      <p:sp>
        <p:nvSpPr>
          <p:cNvPr id="28" name="Oval 27"/>
          <p:cNvSpPr/>
          <p:nvPr/>
        </p:nvSpPr>
        <p:spPr>
          <a:xfrm>
            <a:off x="1691640" y="3767328"/>
            <a:ext cx="457200" cy="457200"/>
          </a:xfrm>
          <a:prstGeom prst="ellipse">
            <a:avLst/>
          </a:prstGeom>
          <a:solidFill>
            <a:srgbClr val="4A1626"/>
          </a:solidFill>
          <a:ln w="9525">
            <a:solidFill>
              <a:srgbClr val="C8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91640" y="3785615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8A84B"/>
                </a:solidFill>
                <a:latin typeface="Calibri"/>
              </a:rPr>
              <a:t>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4251960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E8DCCB"/>
                </a:solidFill>
                <a:latin typeface="Calibri"/>
              </a:rPr>
              <a:t>Guto Galamba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35608" y="4453128"/>
            <a:ext cx="10241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C8A84B"/>
                </a:solidFill>
                <a:latin typeface="Calibri"/>
              </a:rPr>
              <a:t>4M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35608" y="4617720"/>
            <a:ext cx="10241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AA9880"/>
                </a:solidFill>
                <a:latin typeface="Calibri"/>
              </a:rPr>
              <a:t>Alta Performance</a:t>
            </a:r>
          </a:p>
        </p:txBody>
      </p:sp>
      <p:sp>
        <p:nvSpPr>
          <p:cNvPr id="33" name="Oval 32"/>
          <p:cNvSpPr/>
          <p:nvPr/>
        </p:nvSpPr>
        <p:spPr>
          <a:xfrm>
            <a:off x="2715768" y="3767328"/>
            <a:ext cx="457200" cy="457200"/>
          </a:xfrm>
          <a:prstGeom prst="ellipse">
            <a:avLst/>
          </a:prstGeom>
          <a:solidFill>
            <a:srgbClr val="4A1626"/>
          </a:solidFill>
          <a:ln w="9525">
            <a:solidFill>
              <a:srgbClr val="C8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15768" y="3785615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8A84B"/>
                </a:solidFill>
                <a:latin typeface="Calibri"/>
              </a:rPr>
              <a:t>Z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59736" y="4251960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E8DCCB"/>
                </a:solidFill>
                <a:latin typeface="Calibri"/>
              </a:rPr>
              <a:t>Zanon Macedo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59736" y="4453128"/>
            <a:ext cx="10241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C8A84B"/>
                </a:solidFill>
                <a:latin typeface="Calibri"/>
              </a:rPr>
              <a:t>3M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59736" y="4617720"/>
            <a:ext cx="10241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AA9880"/>
                </a:solidFill>
                <a:latin typeface="Calibri"/>
              </a:rPr>
              <a:t>Emagrecimento 40+</a:t>
            </a:r>
          </a:p>
        </p:txBody>
      </p:sp>
      <p:sp>
        <p:nvSpPr>
          <p:cNvPr id="38" name="Oval 37"/>
          <p:cNvSpPr/>
          <p:nvPr/>
        </p:nvSpPr>
        <p:spPr>
          <a:xfrm>
            <a:off x="3739896" y="3767328"/>
            <a:ext cx="457200" cy="457200"/>
          </a:xfrm>
          <a:prstGeom prst="ellipse">
            <a:avLst/>
          </a:prstGeom>
          <a:solidFill>
            <a:srgbClr val="4A1626"/>
          </a:solidFill>
          <a:ln w="9525">
            <a:solidFill>
              <a:srgbClr val="C8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39896" y="3785615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8A84B"/>
                </a:solidFill>
                <a:latin typeface="Calibri"/>
              </a:rPr>
              <a:t>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83864" y="4251960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E8DCCB"/>
                </a:solidFill>
                <a:latin typeface="Calibri"/>
              </a:rPr>
              <a:t>F. Cantarelli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83864" y="4453128"/>
            <a:ext cx="10241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C8A84B"/>
                </a:solidFill>
                <a:latin typeface="Calibri"/>
              </a:rPr>
              <a:t>2M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83864" y="4617720"/>
            <a:ext cx="10241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AA9880"/>
                </a:solidFill>
                <a:latin typeface="Calibri"/>
              </a:rPr>
              <a:t>Fitness</a:t>
            </a:r>
          </a:p>
        </p:txBody>
      </p:sp>
      <p:sp>
        <p:nvSpPr>
          <p:cNvPr id="43" name="Oval 42"/>
          <p:cNvSpPr/>
          <p:nvPr/>
        </p:nvSpPr>
        <p:spPr>
          <a:xfrm>
            <a:off x="4764024" y="3767328"/>
            <a:ext cx="457200" cy="457200"/>
          </a:xfrm>
          <a:prstGeom prst="ellipse">
            <a:avLst/>
          </a:prstGeom>
          <a:solidFill>
            <a:srgbClr val="4A1626"/>
          </a:solidFill>
          <a:ln w="9525">
            <a:solidFill>
              <a:srgbClr val="C8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64024" y="3785615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8A84B"/>
                </a:solidFill>
                <a:latin typeface="Calibri"/>
              </a:rPr>
              <a:t>AP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07992" y="4251960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E8DCCB"/>
                </a:solidFill>
                <a:latin typeface="Calibri"/>
              </a:rPr>
              <a:t>Aline Pamplona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07992" y="4453128"/>
            <a:ext cx="10241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C8A84B"/>
                </a:solidFill>
                <a:latin typeface="Calibri"/>
              </a:rPr>
              <a:t>4M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07992" y="4617720"/>
            <a:ext cx="10241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AA9880"/>
                </a:solidFill>
                <a:latin typeface="Calibri"/>
              </a:rPr>
              <a:t>Fitness</a:t>
            </a:r>
          </a:p>
        </p:txBody>
      </p:sp>
      <p:sp>
        <p:nvSpPr>
          <p:cNvPr id="48" name="Oval 47"/>
          <p:cNvSpPr/>
          <p:nvPr/>
        </p:nvSpPr>
        <p:spPr>
          <a:xfrm>
            <a:off x="5788152" y="3767328"/>
            <a:ext cx="457200" cy="457200"/>
          </a:xfrm>
          <a:prstGeom prst="ellipse">
            <a:avLst/>
          </a:prstGeom>
          <a:solidFill>
            <a:srgbClr val="4A1626"/>
          </a:solidFill>
          <a:ln w="9525">
            <a:solidFill>
              <a:srgbClr val="C8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788152" y="3785615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8A84B"/>
                </a:solidFill>
                <a:latin typeface="Calibri"/>
              </a:rPr>
              <a:t>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532120" y="4251960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E8DCCB"/>
                </a:solidFill>
                <a:latin typeface="Calibri"/>
              </a:rPr>
              <a:t>Ian Galeno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32120" y="4453128"/>
            <a:ext cx="10241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C8A84B"/>
                </a:solidFill>
                <a:latin typeface="Calibri"/>
              </a:rPr>
              <a:t>73K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32120" y="4617720"/>
            <a:ext cx="10241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AA9880"/>
                </a:solidFill>
                <a:latin typeface="Calibri"/>
              </a:rPr>
              <a:t>Fitness · Business</a:t>
            </a:r>
          </a:p>
        </p:txBody>
      </p:sp>
      <p:sp>
        <p:nvSpPr>
          <p:cNvPr id="53" name="Oval 52"/>
          <p:cNvSpPr/>
          <p:nvPr/>
        </p:nvSpPr>
        <p:spPr>
          <a:xfrm>
            <a:off x="6812280" y="3767328"/>
            <a:ext cx="457200" cy="457200"/>
          </a:xfrm>
          <a:prstGeom prst="ellipse">
            <a:avLst/>
          </a:prstGeom>
          <a:solidFill>
            <a:srgbClr val="4A1626"/>
          </a:solidFill>
          <a:ln w="9525">
            <a:solidFill>
              <a:srgbClr val="C8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12280" y="3785615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8A84B"/>
                </a:solidFill>
                <a:latin typeface="Calibri"/>
              </a:rPr>
              <a:t>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56248" y="4251960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E8DCCB"/>
                </a:solidFill>
                <a:latin typeface="Calibri"/>
              </a:rPr>
              <a:t>Nutri das Estrelas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56248" y="4453128"/>
            <a:ext cx="10241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C8A84B"/>
                </a:solidFill>
                <a:latin typeface="Calibri"/>
              </a:rPr>
              <a:t>1M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56248" y="4617720"/>
            <a:ext cx="10241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AA9880"/>
                </a:solidFill>
                <a:latin typeface="Calibri"/>
              </a:rPr>
              <a:t>Nutrição Esportiva</a:t>
            </a:r>
          </a:p>
        </p:txBody>
      </p:sp>
      <p:sp>
        <p:nvSpPr>
          <p:cNvPr id="58" name="Oval 57"/>
          <p:cNvSpPr/>
          <p:nvPr/>
        </p:nvSpPr>
        <p:spPr>
          <a:xfrm>
            <a:off x="7836408" y="3767328"/>
            <a:ext cx="457200" cy="457200"/>
          </a:xfrm>
          <a:prstGeom prst="ellipse">
            <a:avLst/>
          </a:prstGeom>
          <a:solidFill>
            <a:srgbClr val="4A1626"/>
          </a:solidFill>
          <a:ln w="9525">
            <a:solidFill>
              <a:srgbClr val="C8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836408" y="3785615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8A84B"/>
                </a:solidFill>
                <a:latin typeface="Calibri"/>
              </a:rPr>
              <a:t>IF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580376" y="4251960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E8DCCB"/>
                </a:solidFill>
                <a:latin typeface="Calibri"/>
              </a:rPr>
              <a:t>Inemar Fonseca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580376" y="4453128"/>
            <a:ext cx="10241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C8A84B"/>
                </a:solidFill>
                <a:latin typeface="Calibri"/>
              </a:rPr>
              <a:t>1M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580376" y="4617720"/>
            <a:ext cx="10241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AA9880"/>
                </a:solidFill>
                <a:latin typeface="Calibri"/>
              </a:rPr>
              <a:t>Emagrecimento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137160"/>
            <a:ext cx="320040" cy="36576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137160"/>
            <a:ext cx="36576" cy="32004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342900"/>
            <a:ext cx="320040" cy="13716"/>
          </a:xfrm>
          <a:prstGeom prst="rect">
            <a:avLst/>
          </a:prstGeom>
          <a:solidFill>
            <a:srgbClr val="7A6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274320"/>
            <a:ext cx="416966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7A602A"/>
                </a:solidFill>
                <a:latin typeface="Calibri"/>
              </a:rPr>
              <a:t>A PESSOA POR TRÁS DA EXECUTIVA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0" y="342900"/>
            <a:ext cx="320040" cy="13716"/>
          </a:xfrm>
          <a:prstGeom prst="rect">
            <a:avLst/>
          </a:prstGeom>
          <a:solidFill>
            <a:srgbClr val="7A6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54864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8DCCB"/>
                </a:solidFill>
                <a:latin typeface="Calibri"/>
              </a:rPr>
              <a:t>Mas essa não 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078992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C8A84B"/>
                </a:solidFill>
                <a:latin typeface="Calibri"/>
              </a:rPr>
              <a:t>toda a Rafa.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737360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DCCB"/>
                </a:solidFill>
                <a:latin typeface="Calibri"/>
              </a:rPr>
              <a:t>•  Amor, família — seu noivo e filho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121408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DCCB"/>
                </a:solidFill>
                <a:latin typeface="Calibri"/>
              </a:rPr>
              <a:t>•  Cachorros que enchem a casa de alegria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505456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DCCB"/>
                </a:solidFill>
                <a:latin typeface="Calibri"/>
              </a:rPr>
              <a:t>•  Transformação de mais de 50 kg perdidos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889504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DCCB"/>
                </a:solidFill>
                <a:latin typeface="Calibri"/>
              </a:rPr>
              <a:t>•  Paixão genuína por desenvolvimento pessoal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273552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DCCB"/>
                </a:solidFill>
                <a:latin typeface="Calibri"/>
              </a:rPr>
              <a:t>•  6 dígitos investidos em educação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977639"/>
            <a:ext cx="4023360" cy="868680"/>
          </a:xfrm>
          <a:prstGeom prst="rect">
            <a:avLst/>
          </a:prstGeom>
          <a:solidFill>
            <a:srgbClr val="2E0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3977639"/>
            <a:ext cx="54864" cy="86868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4041648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8DCCB"/>
                </a:solidFill>
                <a:latin typeface="Calibri"/>
              </a:rPr>
              <a:t>"A habilidade de vender transformou todas essas áreas da minha vida."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498848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602A"/>
                </a:solidFill>
                <a:latin typeface="Calibri"/>
              </a:rPr>
              <a:t>— E vai transformar a sua também.</a:t>
            </a:r>
          </a:p>
        </p:txBody>
      </p:sp>
      <p:pic>
        <p:nvPicPr>
          <p:cNvPr id="18" name="Picture 17" descr="NOIV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28600"/>
            <a:ext cx="1828800" cy="2011680"/>
          </a:xfrm>
          <a:prstGeom prst="rect">
            <a:avLst/>
          </a:prstGeom>
        </p:spPr>
      </p:pic>
      <p:pic>
        <p:nvPicPr>
          <p:cNvPr id="19" name="Picture 18" descr="FOTO FILHO E NOIV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28600"/>
            <a:ext cx="1828800" cy="2011680"/>
          </a:xfrm>
          <a:prstGeom prst="rect">
            <a:avLst/>
          </a:prstGeom>
        </p:spPr>
      </p:pic>
      <p:pic>
        <p:nvPicPr>
          <p:cNvPr id="20" name="Picture 19" descr="CACHORROS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377440"/>
            <a:ext cx="1828800" cy="1417320"/>
          </a:xfrm>
          <a:prstGeom prst="rect">
            <a:avLst/>
          </a:prstGeom>
        </p:spPr>
      </p:pic>
      <p:pic>
        <p:nvPicPr>
          <p:cNvPr id="21" name="Picture 20" descr="EMAGRECIMENTO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2377440"/>
            <a:ext cx="1828800" cy="1417320"/>
          </a:xfrm>
          <a:prstGeom prst="rect">
            <a:avLst/>
          </a:prstGeom>
        </p:spPr>
      </p:pic>
      <p:pic>
        <p:nvPicPr>
          <p:cNvPr id="22" name="Picture 21" descr="FAMILIA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931920"/>
            <a:ext cx="384048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137160"/>
            <a:ext cx="320040" cy="36576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137160"/>
            <a:ext cx="36576" cy="32004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48006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A602A"/>
                </a:solidFill>
                <a:latin typeface="Calibri"/>
              </a:rPr>
              <a:t>MENTALIDADE</a:t>
            </a:r>
          </a:p>
        </p:txBody>
      </p:sp>
      <p:sp>
        <p:nvSpPr>
          <p:cNvPr id="5" name="Block Arc 4"/>
          <p:cNvSpPr/>
          <p:nvPr/>
        </p:nvSpPr>
        <p:spPr>
          <a:xfrm>
            <a:off x="411480" y="4864608"/>
            <a:ext cx="1234440" cy="1828"/>
          </a:xfrm>
          <a:prstGeom prst="blockArc">
            <a:avLst/>
          </a:prstGeom>
          <a:noFill/>
          <a:ln w="6350">
            <a:solidFill>
              <a:srgbClr val="7A6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0" y="13716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602A"/>
                </a:solidFill>
                <a:latin typeface="Calibri"/>
              </a:rPr>
              <a:t>ANTES DA
TÉCNICA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920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A84B"/>
                </a:solidFill>
                <a:latin typeface="Arial Unicode MS"/>
              </a:rPr>
              <a:t>——  ◆◇◆  ——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7863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E8DCCB"/>
                </a:solidFill>
                <a:latin typeface="Calibri"/>
              </a:rPr>
              <a:t>Antes de ensinar a técnica,
precisamos preparar a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8A84B"/>
                </a:solidFill>
                <a:latin typeface="Calibri"/>
              </a:rPr>
              <a:t>mente.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3566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A84B"/>
                </a:solidFill>
                <a:latin typeface="Arial Unicode MS"/>
              </a:rPr>
              <a:t>——  ◆◇◆  ——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88620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A602A"/>
                </a:solidFill>
                <a:latin typeface="Calibri"/>
              </a:rPr>
              <a:t>O QUE DIFERENCIA VENDEDORES COMUNS
DE MÁQUINAS DE ALTA PERFORMANCE?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137160"/>
            <a:ext cx="320040" cy="36576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137160"/>
            <a:ext cx="36576" cy="32004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342900"/>
            <a:ext cx="320040" cy="13716"/>
          </a:xfrm>
          <a:prstGeom prst="rect">
            <a:avLst/>
          </a:prstGeom>
          <a:solidFill>
            <a:srgbClr val="7A6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274320"/>
            <a:ext cx="279806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7A602A"/>
                </a:solidFill>
                <a:latin typeface="Calibri"/>
              </a:rPr>
              <a:t>PRINCÍPIOS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9040" y="342900"/>
            <a:ext cx="320040" cy="13716"/>
          </a:xfrm>
          <a:prstGeom prst="rect">
            <a:avLst/>
          </a:prstGeom>
          <a:solidFill>
            <a:srgbClr val="7A6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54864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8DCCB"/>
                </a:solidFill>
                <a:latin typeface="Calibri"/>
              </a:rPr>
              <a:t>A VERDADE
SOBRE
VENDAS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01168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602A"/>
                </a:solidFill>
                <a:latin typeface="Calibri"/>
              </a:rPr>
              <a:t>"Alta performance começa
dentro de você — não no script."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256032"/>
            <a:ext cx="54864" cy="4572000"/>
          </a:xfrm>
          <a:prstGeom prst="rect">
            <a:avLst/>
          </a:prstGeom>
          <a:solidFill>
            <a:srgbClr val="7A6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0" y="256032"/>
            <a:ext cx="4937760" cy="8869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32918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A602A"/>
                </a:solidFill>
                <a:latin typeface="Calibri"/>
              </a:rPr>
              <a:t>01</a:t>
            </a:r>
          </a:p>
        </p:txBody>
      </p:sp>
      <p:sp>
        <p:nvSpPr>
          <p:cNvPr id="12" name="Block Arc 11"/>
          <p:cNvSpPr/>
          <p:nvPr/>
        </p:nvSpPr>
        <p:spPr>
          <a:xfrm>
            <a:off x="3840480" y="1143000"/>
            <a:ext cx="4937760" cy="1828"/>
          </a:xfrm>
          <a:prstGeom prst="blockArc">
            <a:avLst/>
          </a:prstGeom>
          <a:noFill/>
          <a:ln w="5080">
            <a:solidFill>
              <a:srgbClr val="7A6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310896"/>
            <a:ext cx="4434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DCCB"/>
                </a:solidFill>
                <a:latin typeface="Calibri"/>
              </a:rPr>
              <a:t>Venda é geração de valor.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658368"/>
            <a:ext cx="4434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9880"/>
                </a:solidFill>
                <a:latin typeface="Calibri"/>
              </a:rPr>
              <a:t>Não é persuasão. Não é pressão. É sobre oferecer algo que genuinamente transforma a vida de quem compra.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0" y="1179576"/>
            <a:ext cx="4937760" cy="8869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0" y="12527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A602A"/>
                </a:solidFill>
                <a:latin typeface="Calibri"/>
              </a:rPr>
              <a:t>02</a:t>
            </a:r>
          </a:p>
        </p:txBody>
      </p:sp>
      <p:sp>
        <p:nvSpPr>
          <p:cNvPr id="17" name="Block Arc 16"/>
          <p:cNvSpPr/>
          <p:nvPr/>
        </p:nvSpPr>
        <p:spPr>
          <a:xfrm>
            <a:off x="3840480" y="2066544"/>
            <a:ext cx="4937760" cy="1828"/>
          </a:xfrm>
          <a:prstGeom prst="blockArc">
            <a:avLst/>
          </a:prstGeom>
          <a:noFill/>
          <a:ln w="5080">
            <a:solidFill>
              <a:srgbClr val="7A6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3400" y="1234440"/>
            <a:ext cx="4434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DCCB"/>
                </a:solidFill>
                <a:latin typeface="Calibri"/>
              </a:rPr>
              <a:t>O medo de vender é medo da rejeição.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1581912"/>
            <a:ext cx="4434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9880"/>
                </a:solidFill>
                <a:latin typeface="Calibri"/>
              </a:rPr>
              <a:t>Separe o não pessoal do não comercial. A maioria dos nãos nunca foi sobre você.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0" y="2103120"/>
            <a:ext cx="4937760" cy="8869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0" y="21762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A602A"/>
                </a:solidFill>
                <a:latin typeface="Calibri"/>
              </a:rPr>
              <a:t>03</a:t>
            </a:r>
          </a:p>
        </p:txBody>
      </p:sp>
      <p:sp>
        <p:nvSpPr>
          <p:cNvPr id="22" name="Block Arc 21"/>
          <p:cNvSpPr/>
          <p:nvPr/>
        </p:nvSpPr>
        <p:spPr>
          <a:xfrm>
            <a:off x="3840480" y="2990088"/>
            <a:ext cx="4937760" cy="1828"/>
          </a:xfrm>
          <a:prstGeom prst="blockArc">
            <a:avLst/>
          </a:prstGeom>
          <a:noFill/>
          <a:ln w="5080">
            <a:solidFill>
              <a:srgbClr val="7A6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400" y="2157984"/>
            <a:ext cx="4434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DCCB"/>
                </a:solidFill>
                <a:latin typeface="Calibri"/>
              </a:rPr>
              <a:t>Quem resolve problemas tem o direito de cobrar.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2505456"/>
            <a:ext cx="4434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9880"/>
                </a:solidFill>
                <a:latin typeface="Calibri"/>
              </a:rPr>
              <a:t>Se você entrega transformação real, cobrar bem é um ato de responsabilidade.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0" y="3026664"/>
            <a:ext cx="4937760" cy="8869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0" y="309981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A602A"/>
                </a:solidFill>
                <a:latin typeface="Calibri"/>
              </a:rPr>
              <a:t>04</a:t>
            </a:r>
          </a:p>
        </p:txBody>
      </p:sp>
      <p:sp>
        <p:nvSpPr>
          <p:cNvPr id="27" name="Block Arc 26"/>
          <p:cNvSpPr/>
          <p:nvPr/>
        </p:nvSpPr>
        <p:spPr>
          <a:xfrm>
            <a:off x="3840480" y="3913632"/>
            <a:ext cx="4937760" cy="1828"/>
          </a:xfrm>
          <a:prstGeom prst="blockArc">
            <a:avLst/>
          </a:prstGeom>
          <a:noFill/>
          <a:ln w="5080">
            <a:solidFill>
              <a:srgbClr val="7A6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43400" y="3081528"/>
            <a:ext cx="4434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DCCB"/>
                </a:solidFill>
                <a:latin typeface="Calibri"/>
              </a:rPr>
              <a:t>Vender é servir.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3429000"/>
            <a:ext cx="4434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9880"/>
                </a:solidFill>
                <a:latin typeface="Calibri"/>
              </a:rPr>
              <a:t>O melhor vendedor é aquele que coloca o interesse do cliente à frente da comissão.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0" y="3950208"/>
            <a:ext cx="4937760" cy="8869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0" y="40233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A602A"/>
                </a:solidFill>
                <a:latin typeface="Calibri"/>
              </a:rPr>
              <a:t>05</a:t>
            </a:r>
          </a:p>
        </p:txBody>
      </p:sp>
      <p:sp>
        <p:nvSpPr>
          <p:cNvPr id="32" name="Block Arc 31"/>
          <p:cNvSpPr/>
          <p:nvPr/>
        </p:nvSpPr>
        <p:spPr>
          <a:xfrm>
            <a:off x="3840480" y="4837176"/>
            <a:ext cx="4937760" cy="1828"/>
          </a:xfrm>
          <a:prstGeom prst="blockArc">
            <a:avLst/>
          </a:prstGeom>
          <a:noFill/>
          <a:ln w="5080">
            <a:solidFill>
              <a:srgbClr val="7A6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43400" y="4005072"/>
            <a:ext cx="4434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DCCB"/>
                </a:solidFill>
                <a:latin typeface="Calibri"/>
              </a:rPr>
              <a:t>Alta performance é uma escolha diária.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4352544"/>
            <a:ext cx="4434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9880"/>
                </a:solidFill>
                <a:latin typeface="Calibri"/>
              </a:rPr>
              <a:t>Não existe talento natural. Existe disciplina repetida com intenção.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137160"/>
            <a:ext cx="320040" cy="36576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137160"/>
            <a:ext cx="36576" cy="32004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342900"/>
            <a:ext cx="320040" cy="13716"/>
          </a:xfrm>
          <a:prstGeom prst="rect">
            <a:avLst/>
          </a:prstGeom>
          <a:solidFill>
            <a:srgbClr val="7A6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274320"/>
            <a:ext cx="746150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7A602A"/>
                </a:solidFill>
                <a:latin typeface="Calibri"/>
              </a:rPr>
              <a:t>O MÉTODO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0" y="342900"/>
            <a:ext cx="320040" cy="13716"/>
          </a:xfrm>
          <a:prstGeom prst="rect">
            <a:avLst/>
          </a:prstGeom>
          <a:solidFill>
            <a:srgbClr val="7A6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530352"/>
            <a:ext cx="8321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C8A84B"/>
                </a:solidFill>
                <a:latin typeface="Calibri"/>
              </a:rPr>
              <a:t>ENGENHARIA DE RECEITA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188720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9880"/>
                </a:solidFill>
                <a:latin typeface="Calibri"/>
              </a:rPr>
              <a:t>Sistema Integrado de Crescimento Comercial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554480"/>
            <a:ext cx="2377440" cy="1737360"/>
          </a:xfrm>
          <a:prstGeom prst="rect">
            <a:avLst/>
          </a:prstGeom>
          <a:solidFill>
            <a:srgbClr val="38121E"/>
          </a:solidFill>
          <a:ln w="9525">
            <a:solidFill>
              <a:srgbClr val="C8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44752" y="1664208"/>
            <a:ext cx="493776" cy="493776"/>
          </a:xfrm>
          <a:prstGeom prst="ellipse">
            <a:avLst/>
          </a:prstGeom>
          <a:solidFill>
            <a:srgbClr val="4A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44752" y="1682496"/>
            <a:ext cx="4937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8A84B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2860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8A84B"/>
                </a:solidFill>
                <a:latin typeface="Calibri"/>
              </a:rPr>
              <a:t>ATRAÇÃO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8803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9880"/>
                </a:solidFill>
                <a:latin typeface="Calibri"/>
              </a:rPr>
              <a:t>Fazer-se encontrado
pelas pessoas certas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28600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8A84B"/>
                </a:solidFill>
                <a:latin typeface="Arial Unicode MS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1554480"/>
            <a:ext cx="2377440" cy="1737360"/>
          </a:xfrm>
          <a:prstGeom prst="rect">
            <a:avLst/>
          </a:prstGeom>
          <a:solidFill>
            <a:srgbClr val="4A1626"/>
          </a:solidFill>
          <a:ln w="9525">
            <a:solidFill>
              <a:srgbClr val="C8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325112" y="1664208"/>
            <a:ext cx="493776" cy="493776"/>
          </a:xfrm>
          <a:prstGeom prst="ellipse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25112" y="1682496"/>
            <a:ext cx="4937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00A14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2860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8A84B"/>
                </a:solidFill>
                <a:latin typeface="Calibri"/>
              </a:rPr>
              <a:t>GERAÇÃO DE
DEMANDA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8803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9880"/>
                </a:solidFill>
                <a:latin typeface="Calibri"/>
              </a:rPr>
              <a:t>Transformar atenção
em oportunidades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228600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8A84B"/>
                </a:solidFill>
                <a:latin typeface="Arial Unicode MS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1554480"/>
            <a:ext cx="2377440" cy="1737360"/>
          </a:xfrm>
          <a:prstGeom prst="rect">
            <a:avLst/>
          </a:prstGeom>
          <a:solidFill>
            <a:srgbClr val="38121E"/>
          </a:solidFill>
          <a:ln w="9525">
            <a:solidFill>
              <a:srgbClr val="C8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205472" y="1664208"/>
            <a:ext cx="493776" cy="493776"/>
          </a:xfrm>
          <a:prstGeom prst="ellipse">
            <a:avLst/>
          </a:prstGeom>
          <a:solidFill>
            <a:srgbClr val="4A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05472" y="1682496"/>
            <a:ext cx="4937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8A84B"/>
                </a:solidFill>
                <a:latin typeface="Calibr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2860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8A84B"/>
                </a:solidFill>
                <a:latin typeface="Calibri"/>
              </a:rPr>
              <a:t>CONVERSÃO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28803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9880"/>
                </a:solidFill>
                <a:latin typeface="Calibri"/>
              </a:rPr>
              <a:t>Transformar interesse
em resultado real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456432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AA9880"/>
                </a:solidFill>
                <a:latin typeface="Calibri"/>
              </a:rPr>
              <a:t>Os três pilares são interdependentes — a força do sistema está na conexão entre eles.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3840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7A602A"/>
                </a:solidFill>
                <a:latin typeface="Arial Unicode MS"/>
              </a:rPr>
              <a:t>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840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7A602A"/>
                </a:solidFill>
                <a:latin typeface="Arial Unicode MS"/>
              </a:rPr>
              <a:t>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137160"/>
            <a:ext cx="320040" cy="36576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137160"/>
            <a:ext cx="36576" cy="32004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7A602A"/>
                </a:solidFill>
                <a:latin typeface="Calibri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342900"/>
            <a:ext cx="320040" cy="13716"/>
          </a:xfrm>
          <a:prstGeom prst="rect">
            <a:avLst/>
          </a:prstGeom>
          <a:solidFill>
            <a:srgbClr val="7A6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72768" y="274320"/>
            <a:ext cx="67299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7A602A"/>
                </a:solidFill>
                <a:latin typeface="Calibri"/>
              </a:rPr>
              <a:t>PILAR 01 — ENGENHARIA DE RECEITA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0" y="342900"/>
            <a:ext cx="320040" cy="13716"/>
          </a:xfrm>
          <a:prstGeom prst="rect">
            <a:avLst/>
          </a:prstGeom>
          <a:solidFill>
            <a:srgbClr val="7A6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475488"/>
            <a:ext cx="7589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C8A84B"/>
                </a:solidFill>
                <a:latin typeface="Calibri"/>
              </a:rPr>
              <a:t>ATRAÇÃO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051560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9880"/>
                </a:solidFill>
                <a:latin typeface="Calibri"/>
              </a:rPr>
              <a:t>Faça-se encontrado pelas pessoas certas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17320"/>
            <a:ext cx="2103120" cy="1737360"/>
          </a:xfrm>
          <a:prstGeom prst="rect">
            <a:avLst/>
          </a:prstGeom>
          <a:solidFill>
            <a:srgbClr val="38121E"/>
          </a:solidFill>
          <a:ln w="6350">
            <a:solidFill>
              <a:srgbClr val="7A6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5270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8A84B"/>
                </a:solidFill>
                <a:latin typeface="Arial Unicode MS"/>
              </a:rPr>
              <a:t>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9842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8A84B"/>
                </a:solidFill>
                <a:latin typeface="Calibri"/>
              </a:rPr>
              <a:t>BRANDING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28600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9880"/>
                </a:solidFill>
                <a:latin typeface="Calibri"/>
              </a:rPr>
              <a:t>Identidade que atrai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50592" y="1417320"/>
            <a:ext cx="2103120" cy="1737360"/>
          </a:xfrm>
          <a:prstGeom prst="rect">
            <a:avLst/>
          </a:prstGeom>
          <a:solidFill>
            <a:srgbClr val="38121E"/>
          </a:solidFill>
          <a:ln w="6350">
            <a:solidFill>
              <a:srgbClr val="7A6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42032" y="15270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8A84B"/>
                </a:solidFill>
                <a:latin typeface="Arial Unicode MS"/>
              </a:rPr>
              <a:t>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96312" y="19842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8A84B"/>
                </a:solidFill>
                <a:latin typeface="Calibri"/>
              </a:rPr>
              <a:t>POSICIONAMENTO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96312" y="228600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9880"/>
                </a:solidFill>
                <a:latin typeface="Calibri"/>
              </a:rPr>
              <a:t>Quem você é no mercado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26864" y="1417320"/>
            <a:ext cx="2103120" cy="1737360"/>
          </a:xfrm>
          <a:prstGeom prst="rect">
            <a:avLst/>
          </a:prstGeom>
          <a:solidFill>
            <a:srgbClr val="38121E"/>
          </a:solidFill>
          <a:ln w="6350">
            <a:solidFill>
              <a:srgbClr val="7A6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18304" y="15270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8A84B"/>
                </a:solidFill>
                <a:latin typeface="Arial Unicode MS"/>
              </a:rPr>
              <a:t>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2584" y="19842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8A84B"/>
                </a:solidFill>
                <a:latin typeface="Calibri"/>
              </a:rPr>
              <a:t>CONTEÚDO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72584" y="228600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9880"/>
                </a:solidFill>
                <a:latin typeface="Calibri"/>
              </a:rPr>
              <a:t>Autoridade em evidência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03136" y="1417320"/>
            <a:ext cx="2103120" cy="1737360"/>
          </a:xfrm>
          <a:prstGeom prst="rect">
            <a:avLst/>
          </a:prstGeom>
          <a:solidFill>
            <a:srgbClr val="38121E"/>
          </a:solidFill>
          <a:ln w="6350">
            <a:solidFill>
              <a:srgbClr val="7A6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94576" y="15270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8A84B"/>
                </a:solidFill>
                <a:latin typeface="Arial Unicode MS"/>
              </a:rPr>
              <a:t>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48856" y="19842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8A84B"/>
                </a:solidFill>
                <a:latin typeface="Calibri"/>
              </a:rPr>
              <a:t>PARCERIAS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48856" y="228600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9880"/>
                </a:solidFill>
                <a:latin typeface="Calibri"/>
              </a:rPr>
              <a:t>Crescimento colaborativo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227832"/>
            <a:ext cx="2103120" cy="1737360"/>
          </a:xfrm>
          <a:prstGeom prst="rect">
            <a:avLst/>
          </a:prstGeom>
          <a:solidFill>
            <a:srgbClr val="38121E"/>
          </a:solidFill>
          <a:ln w="6350">
            <a:solidFill>
              <a:srgbClr val="7A6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3337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8A84B"/>
                </a:solidFill>
                <a:latin typeface="Arial Unicode MS"/>
              </a:rPr>
              <a:t>◎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37947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8A84B"/>
                </a:solidFill>
                <a:latin typeface="Calibri"/>
              </a:rPr>
              <a:t>TRÁFEGO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4096512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9880"/>
                </a:solidFill>
                <a:latin typeface="Calibri"/>
              </a:rPr>
              <a:t>Presença paga e orgânica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50592" y="3227832"/>
            <a:ext cx="2103120" cy="1737360"/>
          </a:xfrm>
          <a:prstGeom prst="rect">
            <a:avLst/>
          </a:prstGeom>
          <a:solidFill>
            <a:srgbClr val="38121E"/>
          </a:solidFill>
          <a:ln w="6350">
            <a:solidFill>
              <a:srgbClr val="7A6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42032" y="3337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8A84B"/>
                </a:solidFill>
                <a:latin typeface="Arial Unicode MS"/>
              </a:rPr>
              <a:t>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96312" y="37947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8A84B"/>
                </a:solidFill>
                <a:latin typeface="Calibri"/>
              </a:rPr>
              <a:t>EVENTOS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96312" y="4096512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9880"/>
                </a:solidFill>
                <a:latin typeface="Calibri"/>
              </a:rPr>
              <a:t>Conexão ao vivo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26864" y="3227832"/>
            <a:ext cx="2103120" cy="1737360"/>
          </a:xfrm>
          <a:prstGeom prst="rect">
            <a:avLst/>
          </a:prstGeom>
          <a:solidFill>
            <a:srgbClr val="38121E"/>
          </a:solidFill>
          <a:ln w="6350">
            <a:solidFill>
              <a:srgbClr val="7A6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3337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8A84B"/>
                </a:solidFill>
                <a:latin typeface="Arial Unicode MS"/>
              </a:rPr>
              <a:t>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72584" y="37947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8A84B"/>
                </a:solidFill>
                <a:latin typeface="Calibri"/>
              </a:rPr>
              <a:t>INDICAÇÕES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72584" y="4096512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9880"/>
                </a:solidFill>
                <a:latin typeface="Calibri"/>
              </a:rPr>
              <a:t>Clientes gerando clientes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03136" y="3227832"/>
            <a:ext cx="2103120" cy="1737360"/>
          </a:xfrm>
          <a:prstGeom prst="rect">
            <a:avLst/>
          </a:prstGeom>
          <a:solidFill>
            <a:srgbClr val="38121E"/>
          </a:solidFill>
          <a:ln w="6350">
            <a:solidFill>
              <a:srgbClr val="7A6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94576" y="3337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8A84B"/>
                </a:solidFill>
                <a:latin typeface="Arial Unicode MS"/>
              </a:rPr>
              <a:t>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48856" y="37947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8A84B"/>
                </a:solidFill>
                <a:latin typeface="Calibri"/>
              </a:rPr>
              <a:t>NETWORKING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48856" y="4096512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9880"/>
                </a:solidFill>
                <a:latin typeface="Calibri"/>
              </a:rPr>
              <a:t>Relacionamentos estratégicos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137160"/>
            <a:ext cx="320040" cy="36576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137160"/>
            <a:ext cx="36576" cy="32004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7A602A"/>
                </a:solidFill>
                <a:latin typeface="Calibri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342900"/>
            <a:ext cx="320040" cy="13716"/>
          </a:xfrm>
          <a:prstGeom prst="rect">
            <a:avLst/>
          </a:prstGeom>
          <a:solidFill>
            <a:srgbClr val="7A6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72768" y="274320"/>
            <a:ext cx="67299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7A602A"/>
                </a:solidFill>
                <a:latin typeface="Calibri"/>
              </a:rPr>
              <a:t>PILAR 02 — ENGENHARIA DE RECEITA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0" y="342900"/>
            <a:ext cx="320040" cy="13716"/>
          </a:xfrm>
          <a:prstGeom prst="rect">
            <a:avLst/>
          </a:prstGeom>
          <a:solidFill>
            <a:srgbClr val="7A6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475488"/>
            <a:ext cx="7589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C8A84B"/>
                </a:solidFill>
                <a:latin typeface="Calibri"/>
              </a:rPr>
              <a:t>GERAÇÃO DE DEMANDA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051560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9880"/>
                </a:solidFill>
                <a:latin typeface="Calibri"/>
              </a:rPr>
              <a:t>Transforme atenção em oportunidades comerciais reais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17320"/>
            <a:ext cx="2103120" cy="1737360"/>
          </a:xfrm>
          <a:prstGeom prst="rect">
            <a:avLst/>
          </a:prstGeom>
          <a:solidFill>
            <a:srgbClr val="38121E"/>
          </a:solidFill>
          <a:ln w="6350">
            <a:solidFill>
              <a:srgbClr val="7A6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5270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8A84B"/>
                </a:solidFill>
                <a:latin typeface="Arial Unicode MS"/>
              </a:rPr>
              <a:t>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9842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8A84B"/>
                </a:solidFill>
                <a:latin typeface="Calibri"/>
              </a:rPr>
              <a:t>CRM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28600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9880"/>
                </a:solidFill>
                <a:latin typeface="Calibri"/>
              </a:rPr>
              <a:t>Gestão de relacionamento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50592" y="1417320"/>
            <a:ext cx="2103120" cy="1737360"/>
          </a:xfrm>
          <a:prstGeom prst="rect">
            <a:avLst/>
          </a:prstGeom>
          <a:solidFill>
            <a:srgbClr val="38121E"/>
          </a:solidFill>
          <a:ln w="6350">
            <a:solidFill>
              <a:srgbClr val="7A6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42032" y="15270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8A84B"/>
                </a:solidFill>
                <a:latin typeface="Arial Unicode MS"/>
              </a:rPr>
              <a:t>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96312" y="19842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8A84B"/>
                </a:solidFill>
                <a:latin typeface="Calibri"/>
              </a:rPr>
              <a:t>WHATSAPP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96312" y="228600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9880"/>
                </a:solidFill>
                <a:latin typeface="Calibri"/>
              </a:rPr>
              <a:t>Canal de alta conversão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26864" y="1417320"/>
            <a:ext cx="2103120" cy="1737360"/>
          </a:xfrm>
          <a:prstGeom prst="rect">
            <a:avLst/>
          </a:prstGeom>
          <a:solidFill>
            <a:srgbClr val="38121E"/>
          </a:solidFill>
          <a:ln w="6350">
            <a:solidFill>
              <a:srgbClr val="7A6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18304" y="15270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8A84B"/>
                </a:solidFill>
                <a:latin typeface="Arial Unicode MS"/>
              </a:rPr>
              <a:t>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2584" y="19842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8A84B"/>
                </a:solidFill>
                <a:latin typeface="Calibri"/>
              </a:rPr>
              <a:t>LANDING PAGES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72584" y="228600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9880"/>
                </a:solidFill>
                <a:latin typeface="Calibri"/>
              </a:rPr>
              <a:t>Captação estruturada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03136" y="1417320"/>
            <a:ext cx="2103120" cy="1737360"/>
          </a:xfrm>
          <a:prstGeom prst="rect">
            <a:avLst/>
          </a:prstGeom>
          <a:solidFill>
            <a:srgbClr val="38121E"/>
          </a:solidFill>
          <a:ln w="6350">
            <a:solidFill>
              <a:srgbClr val="7A6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94576" y="15270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8A84B"/>
                </a:solidFill>
                <a:latin typeface="Arial Unicode MS"/>
              </a:rPr>
              <a:t>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48856" y="19842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8A84B"/>
                </a:solidFill>
                <a:latin typeface="Calibri"/>
              </a:rPr>
              <a:t>COMUNIDADES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48856" y="228600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9880"/>
                </a:solidFill>
                <a:latin typeface="Calibri"/>
              </a:rPr>
              <a:t>Engajamento qualificado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227832"/>
            <a:ext cx="2103120" cy="1737360"/>
          </a:xfrm>
          <a:prstGeom prst="rect">
            <a:avLst/>
          </a:prstGeom>
          <a:solidFill>
            <a:srgbClr val="38121E"/>
          </a:solidFill>
          <a:ln w="6350">
            <a:solidFill>
              <a:srgbClr val="7A6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3337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8A84B"/>
                </a:solidFill>
                <a:latin typeface="Arial Unicode MS"/>
              </a:rPr>
              <a:t>◎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37947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8A84B"/>
                </a:solidFill>
                <a:latin typeface="Calibri"/>
              </a:rPr>
              <a:t>EVENTOS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4096512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9880"/>
                </a:solidFill>
                <a:latin typeface="Calibri"/>
              </a:rPr>
              <a:t>Geração de leads ao vivo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50592" y="3227832"/>
            <a:ext cx="2103120" cy="1737360"/>
          </a:xfrm>
          <a:prstGeom prst="rect">
            <a:avLst/>
          </a:prstGeom>
          <a:solidFill>
            <a:srgbClr val="38121E"/>
          </a:solidFill>
          <a:ln w="6350">
            <a:solidFill>
              <a:srgbClr val="7A6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42032" y="3337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8A84B"/>
                </a:solidFill>
                <a:latin typeface="Arial Unicode MS"/>
              </a:rPr>
              <a:t>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96312" y="37947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8A84B"/>
                </a:solidFill>
                <a:latin typeface="Calibri"/>
              </a:rPr>
              <a:t>LISTA DE CONTATOS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96312" y="4096512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9880"/>
                </a:solidFill>
                <a:latin typeface="Calibri"/>
              </a:rPr>
              <a:t>Base proprietária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26864" y="3227832"/>
            <a:ext cx="2103120" cy="1737360"/>
          </a:xfrm>
          <a:prstGeom prst="rect">
            <a:avLst/>
          </a:prstGeom>
          <a:solidFill>
            <a:srgbClr val="38121E"/>
          </a:solidFill>
          <a:ln w="6350">
            <a:solidFill>
              <a:srgbClr val="7A6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3337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8A84B"/>
                </a:solidFill>
                <a:latin typeface="Arial Unicode MS"/>
              </a:rPr>
              <a:t>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72584" y="37947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8A84B"/>
                </a:solidFill>
                <a:latin typeface="Calibri"/>
              </a:rPr>
              <a:t>CAPTAÇÃO ATIVA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72584" y="4096512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9880"/>
                </a:solidFill>
                <a:latin typeface="Calibri"/>
              </a:rPr>
              <a:t>Prospecção intencional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137160"/>
            <a:ext cx="320040" cy="36576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137160"/>
            <a:ext cx="36576" cy="32004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7A602A"/>
                </a:solidFill>
                <a:latin typeface="Calibri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342900"/>
            <a:ext cx="320040" cy="13716"/>
          </a:xfrm>
          <a:prstGeom prst="rect">
            <a:avLst/>
          </a:prstGeom>
          <a:solidFill>
            <a:srgbClr val="7A6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72768" y="274320"/>
            <a:ext cx="67299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7A602A"/>
                </a:solidFill>
                <a:latin typeface="Calibri"/>
              </a:rPr>
              <a:t>PILAR 3 — ENGENHARIA DE RECEITA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0" y="342900"/>
            <a:ext cx="320040" cy="13716"/>
          </a:xfrm>
          <a:prstGeom prst="rect">
            <a:avLst/>
          </a:prstGeom>
          <a:solidFill>
            <a:srgbClr val="7A6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475488"/>
            <a:ext cx="7589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C8A84B"/>
                </a:solidFill>
                <a:latin typeface="Calibri"/>
              </a:rPr>
              <a:t>CONVERSÃO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9880"/>
                </a:solidFill>
                <a:latin typeface="Calibri"/>
              </a:rPr>
              <a:t>A arte e a ciência de transformar interesse em resultado. 8 etapas · 1 sistema completo.</a:t>
            </a:r>
          </a:p>
        </p:txBody>
      </p:sp>
      <p:sp>
        <p:nvSpPr>
          <p:cNvPr id="10" name="Oval 9"/>
          <p:cNvSpPr/>
          <p:nvPr/>
        </p:nvSpPr>
        <p:spPr>
          <a:xfrm>
            <a:off x="5120640" y="1143000"/>
            <a:ext cx="347472" cy="347472"/>
          </a:xfrm>
          <a:prstGeom prst="ellipse">
            <a:avLst/>
          </a:prstGeom>
          <a:solidFill>
            <a:srgbClr val="4A1626"/>
          </a:solidFill>
          <a:ln w="6350">
            <a:solidFill>
              <a:srgbClr val="7A6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1170432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8A84B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41264" y="117957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DCCB"/>
                </a:solidFill>
                <a:latin typeface="Calibri"/>
              </a:rPr>
              <a:t>MENTALIDADE COMERCIAL</a:t>
            </a:r>
          </a:p>
        </p:txBody>
      </p:sp>
      <p:sp>
        <p:nvSpPr>
          <p:cNvPr id="13" name="Block Arc 12"/>
          <p:cNvSpPr/>
          <p:nvPr/>
        </p:nvSpPr>
        <p:spPr>
          <a:xfrm>
            <a:off x="5120640" y="1545336"/>
            <a:ext cx="3611880" cy="1828"/>
          </a:xfrm>
          <a:prstGeom prst="blockArc">
            <a:avLst/>
          </a:prstGeom>
          <a:noFill/>
          <a:ln w="3810">
            <a:solidFill>
              <a:srgbClr val="7A6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120640" y="1636776"/>
            <a:ext cx="347472" cy="347472"/>
          </a:xfrm>
          <a:prstGeom prst="ellipse">
            <a:avLst/>
          </a:prstGeom>
          <a:solidFill>
            <a:srgbClr val="4A1626"/>
          </a:solidFill>
          <a:ln w="6350">
            <a:solidFill>
              <a:srgbClr val="7A6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1664208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8A84B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41264" y="16733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DCCB"/>
                </a:solidFill>
                <a:latin typeface="Calibri"/>
              </a:rPr>
              <a:t>DIAGNÓSTICO</a:t>
            </a:r>
          </a:p>
        </p:txBody>
      </p:sp>
      <p:sp>
        <p:nvSpPr>
          <p:cNvPr id="17" name="Block Arc 16"/>
          <p:cNvSpPr/>
          <p:nvPr/>
        </p:nvSpPr>
        <p:spPr>
          <a:xfrm>
            <a:off x="5120640" y="2039112"/>
            <a:ext cx="3611880" cy="1828"/>
          </a:xfrm>
          <a:prstGeom prst="blockArc">
            <a:avLst/>
          </a:prstGeom>
          <a:noFill/>
          <a:ln w="3810">
            <a:solidFill>
              <a:srgbClr val="7A6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120640" y="2130552"/>
            <a:ext cx="347472" cy="347472"/>
          </a:xfrm>
          <a:prstGeom prst="ellipse">
            <a:avLst/>
          </a:prstGeom>
          <a:solidFill>
            <a:srgbClr val="4A1626"/>
          </a:solidFill>
          <a:ln w="6350">
            <a:solidFill>
              <a:srgbClr val="7A6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0" y="2157984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8A84B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41264" y="21671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DCCB"/>
                </a:solidFill>
                <a:latin typeface="Calibri"/>
              </a:rPr>
              <a:t>INVESTIGAÇÃO</a:t>
            </a:r>
          </a:p>
        </p:txBody>
      </p:sp>
      <p:sp>
        <p:nvSpPr>
          <p:cNvPr id="21" name="Block Arc 20"/>
          <p:cNvSpPr/>
          <p:nvPr/>
        </p:nvSpPr>
        <p:spPr>
          <a:xfrm>
            <a:off x="5120640" y="2532888"/>
            <a:ext cx="3611880" cy="1828"/>
          </a:xfrm>
          <a:prstGeom prst="blockArc">
            <a:avLst/>
          </a:prstGeom>
          <a:noFill/>
          <a:ln w="3810">
            <a:solidFill>
              <a:srgbClr val="7A6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20640" y="2624328"/>
            <a:ext cx="347472" cy="347472"/>
          </a:xfrm>
          <a:prstGeom prst="ellipse">
            <a:avLst/>
          </a:prstGeom>
          <a:solidFill>
            <a:srgbClr val="4A1626"/>
          </a:solidFill>
          <a:ln w="6350">
            <a:solidFill>
              <a:srgbClr val="7A6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0" y="2651760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8A84B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41264" y="266090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DCCB"/>
                </a:solidFill>
                <a:latin typeface="Calibri"/>
              </a:rPr>
              <a:t>CONSTRUÇÃO DE VALOR</a:t>
            </a:r>
          </a:p>
        </p:txBody>
      </p:sp>
      <p:sp>
        <p:nvSpPr>
          <p:cNvPr id="25" name="Block Arc 24"/>
          <p:cNvSpPr/>
          <p:nvPr/>
        </p:nvSpPr>
        <p:spPr>
          <a:xfrm>
            <a:off x="5120640" y="3026664"/>
            <a:ext cx="3611880" cy="1828"/>
          </a:xfrm>
          <a:prstGeom prst="blockArc">
            <a:avLst/>
          </a:prstGeom>
          <a:noFill/>
          <a:ln w="3810">
            <a:solidFill>
              <a:srgbClr val="7A6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120640" y="3118104"/>
            <a:ext cx="347472" cy="347472"/>
          </a:xfrm>
          <a:prstGeom prst="ellipse">
            <a:avLst/>
          </a:prstGeom>
          <a:solidFill>
            <a:srgbClr val="4A1626"/>
          </a:solidFill>
          <a:ln w="6350">
            <a:solidFill>
              <a:srgbClr val="7A6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0" y="3145536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8A84B"/>
                </a:solidFill>
                <a:latin typeface="Calibri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41264" y="3154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DCCB"/>
                </a:solidFill>
                <a:latin typeface="Calibri"/>
              </a:rPr>
              <a:t>APRESENTAÇÃO DA SOLUÇÃO</a:t>
            </a:r>
          </a:p>
        </p:txBody>
      </p:sp>
      <p:sp>
        <p:nvSpPr>
          <p:cNvPr id="29" name="Block Arc 28"/>
          <p:cNvSpPr/>
          <p:nvPr/>
        </p:nvSpPr>
        <p:spPr>
          <a:xfrm>
            <a:off x="5120640" y="3520440"/>
            <a:ext cx="3611880" cy="1828"/>
          </a:xfrm>
          <a:prstGeom prst="blockArc">
            <a:avLst/>
          </a:prstGeom>
          <a:noFill/>
          <a:ln w="3810">
            <a:solidFill>
              <a:srgbClr val="7A6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120640" y="3611880"/>
            <a:ext cx="347472" cy="347472"/>
          </a:xfrm>
          <a:prstGeom prst="ellipse">
            <a:avLst/>
          </a:prstGeom>
          <a:solidFill>
            <a:srgbClr val="4A1626"/>
          </a:solidFill>
          <a:ln w="6350">
            <a:solidFill>
              <a:srgbClr val="7A6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20640" y="3639312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8A84B"/>
                </a:solidFill>
                <a:latin typeface="Calibri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41264" y="364845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DCCB"/>
                </a:solidFill>
                <a:latin typeface="Calibri"/>
              </a:rPr>
              <a:t>GESTÃO DE OBJEÇÕES</a:t>
            </a:r>
          </a:p>
        </p:txBody>
      </p:sp>
      <p:sp>
        <p:nvSpPr>
          <p:cNvPr id="33" name="Block Arc 32"/>
          <p:cNvSpPr/>
          <p:nvPr/>
        </p:nvSpPr>
        <p:spPr>
          <a:xfrm>
            <a:off x="5120640" y="4014216"/>
            <a:ext cx="3611880" cy="1828"/>
          </a:xfrm>
          <a:prstGeom prst="blockArc">
            <a:avLst/>
          </a:prstGeom>
          <a:noFill/>
          <a:ln w="3810">
            <a:solidFill>
              <a:srgbClr val="7A6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120640" y="4105656"/>
            <a:ext cx="347472" cy="347472"/>
          </a:xfrm>
          <a:prstGeom prst="ellipse">
            <a:avLst/>
          </a:prstGeom>
          <a:solidFill>
            <a:srgbClr val="4A1626"/>
          </a:solidFill>
          <a:ln w="6350">
            <a:solidFill>
              <a:srgbClr val="7A6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20640" y="4133088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8A84B"/>
                </a:solidFill>
                <a:latin typeface="Calibri"/>
              </a:rP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41264" y="41422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DCCB"/>
                </a:solidFill>
                <a:latin typeface="Calibri"/>
              </a:rPr>
              <a:t>TÉCNICAS DE FECHAMENTO</a:t>
            </a:r>
          </a:p>
        </p:txBody>
      </p:sp>
      <p:sp>
        <p:nvSpPr>
          <p:cNvPr id="37" name="Block Arc 36"/>
          <p:cNvSpPr/>
          <p:nvPr/>
        </p:nvSpPr>
        <p:spPr>
          <a:xfrm>
            <a:off x="5120640" y="4507992"/>
            <a:ext cx="3611880" cy="1828"/>
          </a:xfrm>
          <a:prstGeom prst="blockArc">
            <a:avLst/>
          </a:prstGeom>
          <a:noFill/>
          <a:ln w="3810">
            <a:solidFill>
              <a:srgbClr val="7A6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120640" y="4599432"/>
            <a:ext cx="347472" cy="347472"/>
          </a:xfrm>
          <a:prstGeom prst="ellipse">
            <a:avLst/>
          </a:prstGeom>
          <a:solidFill>
            <a:srgbClr val="4A1626"/>
          </a:solidFill>
          <a:ln w="6350">
            <a:solidFill>
              <a:srgbClr val="7A6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20640" y="4626864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8A84B"/>
                </a:solidFill>
                <a:latin typeface="Calibri"/>
              </a:rPr>
              <a:t>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41264" y="46360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DCCB"/>
                </a:solidFill>
                <a:latin typeface="Calibri"/>
              </a:rPr>
              <a:t>FOLLOW-UP ESTRATÉGICO</a:t>
            </a:r>
          </a:p>
        </p:txBody>
      </p:sp>
      <p:sp>
        <p:nvSpPr>
          <p:cNvPr id="41" name="Block Arc 40"/>
          <p:cNvSpPr/>
          <p:nvPr/>
        </p:nvSpPr>
        <p:spPr>
          <a:xfrm>
            <a:off x="5120640" y="5001768"/>
            <a:ext cx="3611880" cy="1828"/>
          </a:xfrm>
          <a:prstGeom prst="blockArc">
            <a:avLst/>
          </a:prstGeom>
          <a:noFill/>
          <a:ln w="3810">
            <a:solidFill>
              <a:srgbClr val="7A6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137160"/>
            <a:ext cx="320040" cy="36576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137160"/>
            <a:ext cx="36576" cy="32004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69748"/>
            <a:ext cx="320040" cy="13716"/>
          </a:xfrm>
          <a:prstGeom prst="rect">
            <a:avLst/>
          </a:prstGeom>
          <a:solidFill>
            <a:srgbClr val="7A6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201168"/>
            <a:ext cx="416966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7A602A"/>
                </a:solidFill>
                <a:latin typeface="Calibri"/>
              </a:rPr>
              <a:t>CONVERSÃO — ETAPA 01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0" y="269748"/>
            <a:ext cx="320040" cy="13716"/>
          </a:xfrm>
          <a:prstGeom prst="rect">
            <a:avLst/>
          </a:prstGeom>
          <a:solidFill>
            <a:srgbClr val="7A6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457200"/>
            <a:ext cx="3840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8A84B"/>
                </a:solidFill>
                <a:latin typeface="Calibri"/>
              </a:rPr>
              <a:t>MENTALIDADE
COMERCIAL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74320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4800" b="1" i="0">
                <a:solidFill>
                  <a:srgbClr val="7A602A"/>
                </a:solidFill>
                <a:latin typeface="Calibri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269748"/>
            <a:ext cx="320040" cy="13716"/>
          </a:xfrm>
          <a:prstGeom prst="rect">
            <a:avLst/>
          </a:prstGeom>
          <a:solidFill>
            <a:srgbClr val="7A6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201168"/>
            <a:ext cx="188366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7A602A"/>
                </a:solidFill>
                <a:latin typeface="Calibri"/>
              </a:rPr>
              <a:t>CONVERSÃO · ETAPA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66760" y="269748"/>
            <a:ext cx="320040" cy="13716"/>
          </a:xfrm>
          <a:prstGeom prst="rect">
            <a:avLst/>
          </a:prstGeom>
          <a:solidFill>
            <a:srgbClr val="7A6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353312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8DCCB"/>
                </a:solidFill>
                <a:latin typeface="Calibri"/>
              </a:rPr>
              <a:t>"Antes de vender para o cliente, você precisa vender para si mesmo."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1353312"/>
            <a:ext cx="64008" cy="82296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353312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8DCCB"/>
                </a:solidFill>
                <a:latin typeface="Calibri"/>
              </a:rPr>
              <a:t>"Antes de vender para o cliente, você precisa vender para si mesmo."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286000"/>
            <a:ext cx="3794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9880"/>
                </a:solidFill>
                <a:latin typeface="Calibri"/>
              </a:rPr>
              <a:t>A mente do vendedor de alta performance não espera motivação. Ela cria disciplina. O resultado é uma consequência do estado interno consistente.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320040"/>
            <a:ext cx="4663440" cy="822960"/>
          </a:xfrm>
          <a:prstGeom prst="rect">
            <a:avLst/>
          </a:prstGeom>
          <a:solidFill>
            <a:srgbClr val="38121E"/>
          </a:solidFill>
          <a:ln w="9525">
            <a:solidFill>
              <a:srgbClr val="C8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374904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A84B"/>
                </a:solidFill>
                <a:latin typeface="Calibri"/>
              </a:rPr>
              <a:t>FOCO EM SERVIR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649224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DCCB"/>
                </a:solidFill>
                <a:latin typeface="Calibri"/>
              </a:rPr>
              <a:t>Quando o foco é no cliente, a rejeição deixa de ser pessoal. Você está ali para ajudar — não para impressionar.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1197864"/>
            <a:ext cx="4663440" cy="822960"/>
          </a:xfrm>
          <a:prstGeom prst="rect">
            <a:avLst/>
          </a:prstGeom>
          <a:solidFill>
            <a:srgbClr val="38121E"/>
          </a:solidFill>
          <a:ln w="9525">
            <a:solidFill>
              <a:srgbClr val="C8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125272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A84B"/>
                </a:solidFill>
                <a:latin typeface="Calibri"/>
              </a:rPr>
              <a:t>DISCIPLINA SOBRE MOTIVAÇÃO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1527048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DCCB"/>
                </a:solidFill>
                <a:latin typeface="Calibri"/>
              </a:rPr>
              <a:t>A máquina funciona nos dias ruins também. Crie rotinas que dispensam humor.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2075688"/>
            <a:ext cx="4663440" cy="822960"/>
          </a:xfrm>
          <a:prstGeom prst="rect">
            <a:avLst/>
          </a:prstGeom>
          <a:solidFill>
            <a:srgbClr val="38121E"/>
          </a:solidFill>
          <a:ln w="9525">
            <a:solidFill>
              <a:srgbClr val="C8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213055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A84B"/>
                </a:solidFill>
                <a:latin typeface="Calibri"/>
              </a:rPr>
              <a:t>OBSESSÃO POR EVOLUÇÃO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2404872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DCCB"/>
                </a:solidFill>
                <a:latin typeface="Calibri"/>
              </a:rPr>
              <a:t>O vendedor que para de aprender começa a perder espaço. Avalie, ajuste, evolua.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486460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A602A"/>
                </a:solidFill>
                <a:latin typeface="Calibri"/>
              </a:rPr>
              <a:t>CONVERSÃO — ETAPA 01</a:t>
            </a:r>
          </a:p>
        </p:txBody>
      </p:sp>
      <p:sp>
        <p:nvSpPr>
          <p:cNvPr id="26" name="Block Arc 25"/>
          <p:cNvSpPr/>
          <p:nvPr/>
        </p:nvSpPr>
        <p:spPr>
          <a:xfrm>
            <a:off x="411480" y="4919472"/>
            <a:ext cx="3063240" cy="1828"/>
          </a:xfrm>
          <a:prstGeom prst="blockArc">
            <a:avLst/>
          </a:prstGeom>
          <a:noFill/>
          <a:ln w="5080">
            <a:solidFill>
              <a:srgbClr val="7A6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137160"/>
            <a:ext cx="320040" cy="36576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137160"/>
            <a:ext cx="36576" cy="32004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69748"/>
            <a:ext cx="320040" cy="13716"/>
          </a:xfrm>
          <a:prstGeom prst="rect">
            <a:avLst/>
          </a:prstGeom>
          <a:solidFill>
            <a:srgbClr val="7A6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201168"/>
            <a:ext cx="416966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7A602A"/>
                </a:solidFill>
                <a:latin typeface="Calibri"/>
              </a:rPr>
              <a:t>CONVERSÃO — ETAPA 02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0" y="269748"/>
            <a:ext cx="320040" cy="13716"/>
          </a:xfrm>
          <a:prstGeom prst="rect">
            <a:avLst/>
          </a:prstGeom>
          <a:solidFill>
            <a:srgbClr val="7A6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457200"/>
            <a:ext cx="3840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8A84B"/>
                </a:solidFill>
                <a:latin typeface="Calibri"/>
              </a:rPr>
              <a:t>DIAGNÓSTICO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74320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4800" b="1" i="0">
                <a:solidFill>
                  <a:srgbClr val="7A602A"/>
                </a:solidFill>
                <a:latin typeface="Calibri"/>
              </a:rP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269748"/>
            <a:ext cx="320040" cy="13716"/>
          </a:xfrm>
          <a:prstGeom prst="rect">
            <a:avLst/>
          </a:prstGeom>
          <a:solidFill>
            <a:srgbClr val="7A6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201168"/>
            <a:ext cx="188366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7A602A"/>
                </a:solidFill>
                <a:latin typeface="Calibri"/>
              </a:rPr>
              <a:t>CONVERSÃO · ETAPA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66760" y="269748"/>
            <a:ext cx="320040" cy="13716"/>
          </a:xfrm>
          <a:prstGeom prst="rect">
            <a:avLst/>
          </a:prstGeom>
          <a:solidFill>
            <a:srgbClr val="7A6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353312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8DCCB"/>
                </a:solidFill>
                <a:latin typeface="Calibri"/>
              </a:rPr>
              <a:t>"Você não pode resolver o que não entende."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1353312"/>
            <a:ext cx="64008" cy="82296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353312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8DCCB"/>
                </a:solidFill>
                <a:latin typeface="Calibri"/>
              </a:rPr>
              <a:t>"Você não pode resolver o que não entende."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286000"/>
            <a:ext cx="3794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9880"/>
                </a:solidFill>
                <a:latin typeface="Calibri"/>
              </a:rPr>
              <a:t>O diagnóstico é a base de toda venda bem-feita. Sem ele, você apresenta a solução certa para o problema errado.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320040"/>
            <a:ext cx="4663440" cy="822960"/>
          </a:xfrm>
          <a:prstGeom prst="rect">
            <a:avLst/>
          </a:prstGeom>
          <a:solidFill>
            <a:srgbClr val="38121E"/>
          </a:solidFill>
          <a:ln w="9525">
            <a:solidFill>
              <a:srgbClr val="C8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374904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A84B"/>
                </a:solidFill>
                <a:latin typeface="Calibri"/>
              </a:rPr>
              <a:t>Dor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649224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DCCB"/>
                </a:solidFill>
                <a:latin typeface="Calibri"/>
              </a:rPr>
              <a:t>Qual problema está impedindo o avanço? Qual a dor real vs. a declarada?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1197864"/>
            <a:ext cx="4663440" cy="822960"/>
          </a:xfrm>
          <a:prstGeom prst="rect">
            <a:avLst/>
          </a:prstGeom>
          <a:solidFill>
            <a:srgbClr val="38121E"/>
          </a:solidFill>
          <a:ln w="9525">
            <a:solidFill>
              <a:srgbClr val="C8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125272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A84B"/>
                </a:solidFill>
                <a:latin typeface="Calibri"/>
              </a:rPr>
              <a:t>Situação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1527048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DCCB"/>
                </a:solidFill>
                <a:latin typeface="Calibri"/>
              </a:rPr>
              <a:t>Onde essa pessoa está hoje? O que já tentou? O que não funcionou?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2075688"/>
            <a:ext cx="4663440" cy="822960"/>
          </a:xfrm>
          <a:prstGeom prst="rect">
            <a:avLst/>
          </a:prstGeom>
          <a:solidFill>
            <a:srgbClr val="38121E"/>
          </a:solidFill>
          <a:ln w="9525">
            <a:solidFill>
              <a:srgbClr val="C8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213055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A84B"/>
                </a:solidFill>
                <a:latin typeface="Calibri"/>
              </a:rPr>
              <a:t>Urgência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2404872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DCCB"/>
                </a:solidFill>
                <a:latin typeface="Calibri"/>
              </a:rPr>
              <a:t>Qual o custo de continuar como está? Existe senso de prazo?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2953512"/>
            <a:ext cx="4663440" cy="822960"/>
          </a:xfrm>
          <a:prstGeom prst="rect">
            <a:avLst/>
          </a:prstGeom>
          <a:solidFill>
            <a:srgbClr val="38121E"/>
          </a:solidFill>
          <a:ln w="9525">
            <a:solidFill>
              <a:srgbClr val="C8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26280" y="3008376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A84B"/>
                </a:solidFill>
                <a:latin typeface="Calibri"/>
              </a:rPr>
              <a:t>Capacidade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3282696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DCCB"/>
                </a:solidFill>
                <a:latin typeface="Calibri"/>
              </a:rPr>
              <a:t>Essa pessoa tem condições reais de investir na solução?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486460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A602A"/>
                </a:solidFill>
                <a:latin typeface="Calibri"/>
              </a:rPr>
              <a:t>CONVERSÃO — ETAPA 02</a:t>
            </a:r>
          </a:p>
        </p:txBody>
      </p:sp>
      <p:sp>
        <p:nvSpPr>
          <p:cNvPr id="29" name="Block Arc 28"/>
          <p:cNvSpPr/>
          <p:nvPr/>
        </p:nvSpPr>
        <p:spPr>
          <a:xfrm>
            <a:off x="411480" y="4919472"/>
            <a:ext cx="3063240" cy="1828"/>
          </a:xfrm>
          <a:prstGeom prst="blockArc">
            <a:avLst/>
          </a:prstGeom>
          <a:noFill/>
          <a:ln w="5080">
            <a:solidFill>
              <a:srgbClr val="7A6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137160"/>
            <a:ext cx="320040" cy="36576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137160"/>
            <a:ext cx="36576" cy="32004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69748"/>
            <a:ext cx="320040" cy="13716"/>
          </a:xfrm>
          <a:prstGeom prst="rect">
            <a:avLst/>
          </a:prstGeom>
          <a:solidFill>
            <a:srgbClr val="7A6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201168"/>
            <a:ext cx="416966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7A602A"/>
                </a:solidFill>
                <a:latin typeface="Calibri"/>
              </a:rPr>
              <a:t>CONVERSÃO — ETAPA 03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0" y="269748"/>
            <a:ext cx="320040" cy="13716"/>
          </a:xfrm>
          <a:prstGeom prst="rect">
            <a:avLst/>
          </a:prstGeom>
          <a:solidFill>
            <a:srgbClr val="7A6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457200"/>
            <a:ext cx="3840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8A84B"/>
                </a:solidFill>
                <a:latin typeface="Calibri"/>
              </a:rPr>
              <a:t>INVESTIGAÇÃO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74320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4800" b="1" i="0">
                <a:solidFill>
                  <a:srgbClr val="7A602A"/>
                </a:solidFill>
                <a:latin typeface="Calibri"/>
              </a:rP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269748"/>
            <a:ext cx="320040" cy="13716"/>
          </a:xfrm>
          <a:prstGeom prst="rect">
            <a:avLst/>
          </a:prstGeom>
          <a:solidFill>
            <a:srgbClr val="7A6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201168"/>
            <a:ext cx="188366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7A602A"/>
                </a:solidFill>
                <a:latin typeface="Calibri"/>
              </a:rPr>
              <a:t>CONVERSÃO · ETAPA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66760" y="269748"/>
            <a:ext cx="320040" cy="13716"/>
          </a:xfrm>
          <a:prstGeom prst="rect">
            <a:avLst/>
          </a:prstGeom>
          <a:solidFill>
            <a:srgbClr val="7A6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353312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8DCCB"/>
                </a:solidFill>
                <a:latin typeface="Calibri"/>
              </a:rPr>
              <a:t>"As perguntas certas revelam o caminho para o fechamento."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1353312"/>
            <a:ext cx="64008" cy="82296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353312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8DCCB"/>
                </a:solidFill>
                <a:latin typeface="Calibri"/>
              </a:rPr>
              <a:t>"As perguntas certas revelam o caminho para o fechamento."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286000"/>
            <a:ext cx="3794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9880"/>
                </a:solidFill>
                <a:latin typeface="Calibri"/>
              </a:rPr>
              <a:t>Quem pergunta, controla. Quem escuta, vende. A investigação não é interrogatório — é cuidado genuíno com o problema do cliente.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320040"/>
            <a:ext cx="4663440" cy="822960"/>
          </a:xfrm>
          <a:prstGeom prst="rect">
            <a:avLst/>
          </a:prstGeom>
          <a:solidFill>
            <a:srgbClr val="38121E"/>
          </a:solidFill>
          <a:ln w="9525">
            <a:solidFill>
              <a:srgbClr val="C8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374904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A84B"/>
                </a:solidFill>
                <a:latin typeface="Calibri"/>
              </a:rPr>
              <a:t>PERGUNTAS DE SITUAÇÃO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649224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DCCB"/>
                </a:solidFill>
                <a:latin typeface="Calibri"/>
              </a:rPr>
              <a:t>Mapear o contexto atual: 'Como você está fazendo hoje?', 'Qual é o seu maior desafio nessa área?'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1197864"/>
            <a:ext cx="4663440" cy="822960"/>
          </a:xfrm>
          <a:prstGeom prst="rect">
            <a:avLst/>
          </a:prstGeom>
          <a:solidFill>
            <a:srgbClr val="38121E"/>
          </a:solidFill>
          <a:ln w="9525">
            <a:solidFill>
              <a:srgbClr val="C8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125272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A84B"/>
                </a:solidFill>
                <a:latin typeface="Calibri"/>
              </a:rPr>
              <a:t>PERGUNTAS DE PROBLEMA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1527048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DCCB"/>
                </a:solidFill>
                <a:latin typeface="Calibri"/>
              </a:rPr>
              <a:t>Aprofundar a dor: 'O que acontece se isso não mudar?', 'Qual o impacto disso no seu resultado?'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2075688"/>
            <a:ext cx="4663440" cy="822960"/>
          </a:xfrm>
          <a:prstGeom prst="rect">
            <a:avLst/>
          </a:prstGeom>
          <a:solidFill>
            <a:srgbClr val="38121E"/>
          </a:solidFill>
          <a:ln w="9525">
            <a:solidFill>
              <a:srgbClr val="C8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213055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A84B"/>
                </a:solidFill>
                <a:latin typeface="Calibri"/>
              </a:rPr>
              <a:t>PERGUNTAS DE SOLUÇÃO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2404872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DCCB"/>
                </a:solidFill>
                <a:latin typeface="Calibri"/>
              </a:rPr>
              <a:t>Fazer o cliente imaginar a transformação: 'Se você resolvesse isso, como seria?', 'O que mudaria no seu negócio?'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486460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A602A"/>
                </a:solidFill>
                <a:latin typeface="Calibri"/>
              </a:rPr>
              <a:t>CONVERSÃO — ETAPA 03</a:t>
            </a:r>
          </a:p>
        </p:txBody>
      </p:sp>
      <p:sp>
        <p:nvSpPr>
          <p:cNvPr id="26" name="Block Arc 25"/>
          <p:cNvSpPr/>
          <p:nvPr/>
        </p:nvSpPr>
        <p:spPr>
          <a:xfrm>
            <a:off x="411480" y="4919472"/>
            <a:ext cx="3063240" cy="1828"/>
          </a:xfrm>
          <a:prstGeom prst="blockArc">
            <a:avLst/>
          </a:prstGeom>
          <a:noFill/>
          <a:ln w="5080">
            <a:solidFill>
              <a:srgbClr val="7A6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137160"/>
            <a:ext cx="320040" cy="36576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137160"/>
            <a:ext cx="36576" cy="32004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69748"/>
            <a:ext cx="320040" cy="13716"/>
          </a:xfrm>
          <a:prstGeom prst="rect">
            <a:avLst/>
          </a:prstGeom>
          <a:solidFill>
            <a:srgbClr val="7A6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201168"/>
            <a:ext cx="416966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7A602A"/>
                </a:solidFill>
                <a:latin typeface="Calibri"/>
              </a:rPr>
              <a:t>CONVERSÃO — ETAPA 04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0" y="269748"/>
            <a:ext cx="320040" cy="13716"/>
          </a:xfrm>
          <a:prstGeom prst="rect">
            <a:avLst/>
          </a:prstGeom>
          <a:solidFill>
            <a:srgbClr val="7A6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457200"/>
            <a:ext cx="3840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8A84B"/>
                </a:solidFill>
                <a:latin typeface="Calibri"/>
              </a:rPr>
              <a:t>CONSTRUÇÃO
DE VALOR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74320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4800" b="1" i="0">
                <a:solidFill>
                  <a:srgbClr val="7A602A"/>
                </a:solidFill>
                <a:latin typeface="Calibri"/>
              </a:rPr>
              <a:t>04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269748"/>
            <a:ext cx="320040" cy="13716"/>
          </a:xfrm>
          <a:prstGeom prst="rect">
            <a:avLst/>
          </a:prstGeom>
          <a:solidFill>
            <a:srgbClr val="7A6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201168"/>
            <a:ext cx="188366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7A602A"/>
                </a:solidFill>
                <a:latin typeface="Calibri"/>
              </a:rPr>
              <a:t>CONVERSÃO · ETAPA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66760" y="269748"/>
            <a:ext cx="320040" cy="13716"/>
          </a:xfrm>
          <a:prstGeom prst="rect">
            <a:avLst/>
          </a:prstGeom>
          <a:solidFill>
            <a:srgbClr val="7A6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353312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8DCCB"/>
                </a:solidFill>
                <a:latin typeface="Calibri"/>
              </a:rPr>
              <a:t>"Antes de falar de preço, construa o valor. O preço justifica-se pelo tamanho da transformação."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1353312"/>
            <a:ext cx="64008" cy="82296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353312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8DCCB"/>
                </a:solidFill>
                <a:latin typeface="Calibri"/>
              </a:rPr>
              <a:t>"Antes de falar de preço, construa o valor. O preço justifica-se pelo tamanho da transformação."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286000"/>
            <a:ext cx="3794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9880"/>
                </a:solidFill>
                <a:latin typeface="Calibri"/>
              </a:rPr>
              <a:t>Valor não é o que você entrega. É o que o cliente percebe que vai mudar na vida dele.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320040"/>
            <a:ext cx="4663440" cy="822960"/>
          </a:xfrm>
          <a:prstGeom prst="rect">
            <a:avLst/>
          </a:prstGeom>
          <a:solidFill>
            <a:srgbClr val="38121E"/>
          </a:solidFill>
          <a:ln w="9525">
            <a:solidFill>
              <a:srgbClr val="C8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374904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A84B"/>
                </a:solidFill>
                <a:latin typeface="Calibri"/>
              </a:rPr>
              <a:t>FÓRMULA DO VALOR PERCEBIDO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649224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DCCB"/>
                </a:solidFill>
                <a:latin typeface="Calibri"/>
              </a:rPr>
              <a:t>RESULTADO ESPERADO + PROVA SOCIAL + URGÊNCIA REAL  ÷  RISCO PERCEBIDO  =  PREÇO JUSTIFICADO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1197864"/>
            <a:ext cx="4663440" cy="822960"/>
          </a:xfrm>
          <a:prstGeom prst="rect">
            <a:avLst/>
          </a:prstGeom>
          <a:solidFill>
            <a:srgbClr val="38121E"/>
          </a:solidFill>
          <a:ln w="9525">
            <a:solidFill>
              <a:srgbClr val="C8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125272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A84B"/>
                </a:solidFill>
                <a:latin typeface="Calibri"/>
              </a:rPr>
              <a:t>PREÇO JUSTIFICADO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1527048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DCCB"/>
                </a:solidFill>
                <a:latin typeface="Calibri"/>
              </a:rPr>
              <a:t>Use casos reais, depoimentos, dados concretos. Mostre a transformação antes de revelar o investimento.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86460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A602A"/>
                </a:solidFill>
                <a:latin typeface="Calibri"/>
              </a:rPr>
              <a:t>CONVERSÃO — ETAPA 04</a:t>
            </a:r>
          </a:p>
        </p:txBody>
      </p:sp>
      <p:sp>
        <p:nvSpPr>
          <p:cNvPr id="23" name="Block Arc 22"/>
          <p:cNvSpPr/>
          <p:nvPr/>
        </p:nvSpPr>
        <p:spPr>
          <a:xfrm>
            <a:off x="411480" y="4919472"/>
            <a:ext cx="3063240" cy="1828"/>
          </a:xfrm>
          <a:prstGeom prst="blockArc">
            <a:avLst/>
          </a:prstGeom>
          <a:noFill/>
          <a:ln w="5080">
            <a:solidFill>
              <a:srgbClr val="7A6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137160"/>
            <a:ext cx="320040" cy="36576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137160"/>
            <a:ext cx="36576" cy="32004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69748"/>
            <a:ext cx="320040" cy="13716"/>
          </a:xfrm>
          <a:prstGeom prst="rect">
            <a:avLst/>
          </a:prstGeom>
          <a:solidFill>
            <a:srgbClr val="7A6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201168"/>
            <a:ext cx="416966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7A602A"/>
                </a:solidFill>
                <a:latin typeface="Calibri"/>
              </a:rPr>
              <a:t>CONVERSÃO — ETAPA 05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0" y="269748"/>
            <a:ext cx="320040" cy="13716"/>
          </a:xfrm>
          <a:prstGeom prst="rect">
            <a:avLst/>
          </a:prstGeom>
          <a:solidFill>
            <a:srgbClr val="7A6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457200"/>
            <a:ext cx="3840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8A84B"/>
                </a:solidFill>
                <a:latin typeface="Calibri"/>
              </a:rPr>
              <a:t>APRESENTAÇÃO
DA SOLUÇÃO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74320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4800" b="1" i="0">
                <a:solidFill>
                  <a:srgbClr val="7A602A"/>
                </a:solidFill>
                <a:latin typeface="Calibri"/>
              </a:rPr>
              <a:t>05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269748"/>
            <a:ext cx="320040" cy="13716"/>
          </a:xfrm>
          <a:prstGeom prst="rect">
            <a:avLst/>
          </a:prstGeom>
          <a:solidFill>
            <a:srgbClr val="7A6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201168"/>
            <a:ext cx="188366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7A602A"/>
                </a:solidFill>
                <a:latin typeface="Calibri"/>
              </a:rPr>
              <a:t>CONVERSÃO · ETAPA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66760" y="269748"/>
            <a:ext cx="320040" cy="13716"/>
          </a:xfrm>
          <a:prstGeom prst="rect">
            <a:avLst/>
          </a:prstGeom>
          <a:solidFill>
            <a:srgbClr val="7A6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353312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8DCCB"/>
                </a:solidFill>
                <a:latin typeface="Calibri"/>
              </a:rPr>
              <a:t>"Não venda o produto. Venda a transformação que ele entrega."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1353312"/>
            <a:ext cx="64008" cy="82296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353312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8DCCB"/>
                </a:solidFill>
                <a:latin typeface="Calibri"/>
              </a:rPr>
              <a:t>"Não venda o produto. Venda a transformação que ele entrega."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286000"/>
            <a:ext cx="3794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9880"/>
                </a:solidFill>
                <a:latin typeface="Calibri"/>
              </a:rPr>
              <a:t>A apresentação é o momento de conectar tudo que você descobriu nas etapas anteriores a uma solução sob medida.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320040"/>
            <a:ext cx="4663440" cy="822960"/>
          </a:xfrm>
          <a:prstGeom prst="rect">
            <a:avLst/>
          </a:prstGeom>
          <a:solidFill>
            <a:srgbClr val="38121E"/>
          </a:solidFill>
          <a:ln w="9525">
            <a:solidFill>
              <a:srgbClr val="C8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374904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A84B"/>
                </a:solidFill>
                <a:latin typeface="Calibri"/>
              </a:rPr>
              <a:t>01  O PROBLEMA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649224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DCCB"/>
                </a:solidFill>
                <a:latin typeface="Calibri"/>
              </a:rPr>
              <a:t>Reitere a dor com as palavras do próprio cliente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1197864"/>
            <a:ext cx="4663440" cy="822960"/>
          </a:xfrm>
          <a:prstGeom prst="rect">
            <a:avLst/>
          </a:prstGeom>
          <a:solidFill>
            <a:srgbClr val="38121E"/>
          </a:solidFill>
          <a:ln w="9525">
            <a:solidFill>
              <a:srgbClr val="C8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125272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A84B"/>
                </a:solidFill>
                <a:latin typeface="Calibri"/>
              </a:rPr>
              <a:t>02  A SOLUÇÃO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1527048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DCCB"/>
                </a:solidFill>
                <a:latin typeface="Calibri"/>
              </a:rPr>
              <a:t>Apresente o caminho direto da dor ao resultado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2075688"/>
            <a:ext cx="4663440" cy="822960"/>
          </a:xfrm>
          <a:prstGeom prst="rect">
            <a:avLst/>
          </a:prstGeom>
          <a:solidFill>
            <a:srgbClr val="38121E"/>
          </a:solidFill>
          <a:ln w="9525">
            <a:solidFill>
              <a:srgbClr val="C8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213055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A84B"/>
                </a:solidFill>
                <a:latin typeface="Calibri"/>
              </a:rPr>
              <a:t>03  A PROVA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2404872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DCCB"/>
                </a:solidFill>
                <a:latin typeface="Calibri"/>
              </a:rPr>
              <a:t>Cases, resultados reais, depoimentos concretos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2953512"/>
            <a:ext cx="4663440" cy="822960"/>
          </a:xfrm>
          <a:prstGeom prst="rect">
            <a:avLst/>
          </a:prstGeom>
          <a:solidFill>
            <a:srgbClr val="38121E"/>
          </a:solidFill>
          <a:ln w="9525">
            <a:solidFill>
              <a:srgbClr val="C8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26280" y="3008376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A84B"/>
                </a:solidFill>
                <a:latin typeface="Calibri"/>
              </a:rPr>
              <a:t>04  A OFERTA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3282696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DCCB"/>
                </a:solidFill>
                <a:latin typeface="Calibri"/>
              </a:rPr>
              <a:t>Preço, formato e próximos passos — com clareza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486460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A602A"/>
                </a:solidFill>
                <a:latin typeface="Calibri"/>
              </a:rPr>
              <a:t>CONVERSÃO — ETAPA 05</a:t>
            </a:r>
          </a:p>
        </p:txBody>
      </p:sp>
      <p:sp>
        <p:nvSpPr>
          <p:cNvPr id="29" name="Block Arc 28"/>
          <p:cNvSpPr/>
          <p:nvPr/>
        </p:nvSpPr>
        <p:spPr>
          <a:xfrm>
            <a:off x="411480" y="4919472"/>
            <a:ext cx="3063240" cy="1828"/>
          </a:xfrm>
          <a:prstGeom prst="blockArc">
            <a:avLst/>
          </a:prstGeom>
          <a:noFill/>
          <a:ln w="5080">
            <a:solidFill>
              <a:srgbClr val="7A6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137160"/>
            <a:ext cx="320040" cy="36576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137160"/>
            <a:ext cx="36576" cy="32004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69748"/>
            <a:ext cx="320040" cy="13716"/>
          </a:xfrm>
          <a:prstGeom prst="rect">
            <a:avLst/>
          </a:prstGeom>
          <a:solidFill>
            <a:srgbClr val="7A6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201168"/>
            <a:ext cx="416966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7A602A"/>
                </a:solidFill>
                <a:latin typeface="Calibri"/>
              </a:rPr>
              <a:t>CONVERSÃO — ETAPA 06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0" y="269748"/>
            <a:ext cx="320040" cy="13716"/>
          </a:xfrm>
          <a:prstGeom prst="rect">
            <a:avLst/>
          </a:prstGeom>
          <a:solidFill>
            <a:srgbClr val="7A6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457200"/>
            <a:ext cx="3840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8A84B"/>
                </a:solidFill>
                <a:latin typeface="Calibri"/>
              </a:rPr>
              <a:t>GESTÃO DE
OBJEÇÕES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74320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4800" b="1" i="0">
                <a:solidFill>
                  <a:srgbClr val="7A602A"/>
                </a:solidFill>
                <a:latin typeface="Calibri"/>
              </a:rPr>
              <a:t>06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269748"/>
            <a:ext cx="320040" cy="13716"/>
          </a:xfrm>
          <a:prstGeom prst="rect">
            <a:avLst/>
          </a:prstGeom>
          <a:solidFill>
            <a:srgbClr val="7A6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201168"/>
            <a:ext cx="188366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7A602A"/>
                </a:solidFill>
                <a:latin typeface="Calibri"/>
              </a:rPr>
              <a:t>CONVERSÃO · ETAPA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66760" y="269748"/>
            <a:ext cx="320040" cy="13716"/>
          </a:xfrm>
          <a:prstGeom prst="rect">
            <a:avLst/>
          </a:prstGeom>
          <a:solidFill>
            <a:srgbClr val="7A6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353312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8DCCB"/>
                </a:solidFill>
                <a:latin typeface="Calibri"/>
              </a:rPr>
              <a:t>"Uma objeção é um pedido por mais informação — não uma recusa."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1353312"/>
            <a:ext cx="64008" cy="82296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353312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8DCCB"/>
                </a:solidFill>
                <a:latin typeface="Calibri"/>
              </a:rPr>
              <a:t>"Uma objeção é um pedido por mais informação — não uma recusa."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286000"/>
            <a:ext cx="3794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9880"/>
                </a:solidFill>
                <a:latin typeface="Calibri"/>
              </a:rPr>
              <a:t>Toda objeção revela uma dúvida que ainda não foi resolvida. O objetivo é entender sua origem.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320040"/>
            <a:ext cx="4663440" cy="822960"/>
          </a:xfrm>
          <a:prstGeom prst="rect">
            <a:avLst/>
          </a:prstGeom>
          <a:solidFill>
            <a:srgbClr val="38121E"/>
          </a:solidFill>
          <a:ln w="9525">
            <a:solidFill>
              <a:srgbClr val="C8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374904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A84B"/>
                </a:solidFill>
                <a:latin typeface="Calibri"/>
              </a:rPr>
              <a:t>"É muito caro."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649224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DCCB"/>
                </a:solidFill>
                <a:latin typeface="Calibri"/>
              </a:rPr>
              <a:t>Encontre o que está caro na vida dela sem a solução. Reposicione o custo como investimento.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1197864"/>
            <a:ext cx="4663440" cy="822960"/>
          </a:xfrm>
          <a:prstGeom prst="rect">
            <a:avLst/>
          </a:prstGeom>
          <a:solidFill>
            <a:srgbClr val="38121E"/>
          </a:solidFill>
          <a:ln w="9525">
            <a:solidFill>
              <a:srgbClr val="C8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125272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A84B"/>
                </a:solidFill>
                <a:latin typeface="Calibri"/>
              </a:rPr>
              <a:t>"Preciso pensar."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1527048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DCCB"/>
                </a:solidFill>
                <a:latin typeface="Calibri"/>
              </a:rPr>
              <a:t>'Pensar' costuma ser falta de clareza ou urgência. Descubra o real motivo. Ajude-a a decidir.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2075688"/>
            <a:ext cx="4663440" cy="822960"/>
          </a:xfrm>
          <a:prstGeom prst="rect">
            <a:avLst/>
          </a:prstGeom>
          <a:solidFill>
            <a:srgbClr val="38121E"/>
          </a:solidFill>
          <a:ln w="9525">
            <a:solidFill>
              <a:srgbClr val="C8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213055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A84B"/>
                </a:solidFill>
                <a:latin typeface="Calibri"/>
              </a:rPr>
              <a:t>"Não é o momento."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2404872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DCCB"/>
                </a:solidFill>
                <a:latin typeface="Calibri"/>
              </a:rPr>
              <a:t>Explore o custo do adiamento. O momento perfeito nunca chega — o problema, sim.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2953512"/>
            <a:ext cx="4663440" cy="822960"/>
          </a:xfrm>
          <a:prstGeom prst="rect">
            <a:avLst/>
          </a:prstGeom>
          <a:solidFill>
            <a:srgbClr val="38121E"/>
          </a:solidFill>
          <a:ln w="9525">
            <a:solidFill>
              <a:srgbClr val="C8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26280" y="3008376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A84B"/>
                </a:solidFill>
                <a:latin typeface="Calibri"/>
              </a:rPr>
              <a:t>"Já tentei e não funcionou."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3282696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DCCB"/>
                </a:solidFill>
                <a:latin typeface="Calibri"/>
              </a:rPr>
              <a:t>Diferencie sua solução. Entenda o que falhou antes e mostre o que é diferente agora.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486460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A602A"/>
                </a:solidFill>
                <a:latin typeface="Calibri"/>
              </a:rPr>
              <a:t>CONVERSÃO — ETAPA 06</a:t>
            </a:r>
          </a:p>
        </p:txBody>
      </p:sp>
      <p:sp>
        <p:nvSpPr>
          <p:cNvPr id="29" name="Block Arc 28"/>
          <p:cNvSpPr/>
          <p:nvPr/>
        </p:nvSpPr>
        <p:spPr>
          <a:xfrm>
            <a:off x="411480" y="4919472"/>
            <a:ext cx="3063240" cy="1828"/>
          </a:xfrm>
          <a:prstGeom prst="blockArc">
            <a:avLst/>
          </a:prstGeom>
          <a:noFill/>
          <a:ln w="5080">
            <a:solidFill>
              <a:srgbClr val="7A6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137160"/>
            <a:ext cx="320040" cy="36576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137160"/>
            <a:ext cx="36576" cy="32004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69748"/>
            <a:ext cx="320040" cy="13716"/>
          </a:xfrm>
          <a:prstGeom prst="rect">
            <a:avLst/>
          </a:prstGeom>
          <a:solidFill>
            <a:srgbClr val="7A6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201168"/>
            <a:ext cx="416966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7A602A"/>
                </a:solidFill>
                <a:latin typeface="Calibri"/>
              </a:rPr>
              <a:t>CONVERSÃO — ETAPA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0" y="269748"/>
            <a:ext cx="320040" cy="13716"/>
          </a:xfrm>
          <a:prstGeom prst="rect">
            <a:avLst/>
          </a:prstGeom>
          <a:solidFill>
            <a:srgbClr val="7A6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457200"/>
            <a:ext cx="3840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8A84B"/>
                </a:solidFill>
                <a:latin typeface="Calibri"/>
              </a:rPr>
              <a:t>FECHAMENTO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74320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4800" b="1" i="0">
                <a:solidFill>
                  <a:srgbClr val="7A602A"/>
                </a:solidFill>
                <a:latin typeface="Calibri"/>
              </a:rPr>
              <a:t>07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269748"/>
            <a:ext cx="320040" cy="13716"/>
          </a:xfrm>
          <a:prstGeom prst="rect">
            <a:avLst/>
          </a:prstGeom>
          <a:solidFill>
            <a:srgbClr val="7A6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201168"/>
            <a:ext cx="188366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7A602A"/>
                </a:solidFill>
                <a:latin typeface="Calibri"/>
              </a:rPr>
              <a:t>CONVERSÃO · ETAPA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66760" y="269748"/>
            <a:ext cx="320040" cy="13716"/>
          </a:xfrm>
          <a:prstGeom prst="rect">
            <a:avLst/>
          </a:prstGeom>
          <a:solidFill>
            <a:srgbClr val="7A6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353312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8DCCB"/>
                </a:solidFill>
                <a:latin typeface="Calibri"/>
              </a:rPr>
              <a:t>"O fechamento começa no primeiro contato — não na proposta."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1353312"/>
            <a:ext cx="64008" cy="82296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353312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8DCCB"/>
                </a:solidFill>
                <a:latin typeface="Calibri"/>
              </a:rPr>
              <a:t>"O fechamento começa no primeiro contato — não na proposta."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286000"/>
            <a:ext cx="3794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9880"/>
                </a:solidFill>
                <a:latin typeface="Calibri"/>
              </a:rPr>
              <a:t>Se você diagnosticou bem, investigou com cuidado e construiu valor, fechar é natural. Técnica sem relação é manipulação.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320040"/>
            <a:ext cx="4663440" cy="822960"/>
          </a:xfrm>
          <a:prstGeom prst="rect">
            <a:avLst/>
          </a:prstGeom>
          <a:solidFill>
            <a:srgbClr val="38121E"/>
          </a:solidFill>
          <a:ln w="9525">
            <a:solidFill>
              <a:srgbClr val="C8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374904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A84B"/>
                </a:solidFill>
                <a:latin typeface="Calibri"/>
              </a:rPr>
              <a:t>FECHAMENTO DIRETO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649224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DCCB"/>
                </a:solidFill>
                <a:latin typeface="Calibri"/>
              </a:rPr>
              <a:t>Após construir o valor, simplesmente pergunte: 'Vamos começar?'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1197864"/>
            <a:ext cx="4663440" cy="822960"/>
          </a:xfrm>
          <a:prstGeom prst="rect">
            <a:avLst/>
          </a:prstGeom>
          <a:solidFill>
            <a:srgbClr val="38121E"/>
          </a:solidFill>
          <a:ln w="9525">
            <a:solidFill>
              <a:srgbClr val="C8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125272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A84B"/>
                </a:solidFill>
                <a:latin typeface="Calibri"/>
              </a:rPr>
              <a:t>FECHAMENTO POR ESCASSEZ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1527048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DCCB"/>
                </a:solidFill>
                <a:latin typeface="Calibri"/>
              </a:rPr>
              <a:t>Use datas, vagas ou condições reais. Nunca falso. Urgência real funciona.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2075688"/>
            <a:ext cx="4663440" cy="822960"/>
          </a:xfrm>
          <a:prstGeom prst="rect">
            <a:avLst/>
          </a:prstGeom>
          <a:solidFill>
            <a:srgbClr val="38121E"/>
          </a:solidFill>
          <a:ln w="9525">
            <a:solidFill>
              <a:srgbClr val="C8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213055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A84B"/>
                </a:solidFill>
                <a:latin typeface="Calibri"/>
              </a:rPr>
              <a:t>FECHAMENTO POR RESUMO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2404872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DCCB"/>
                </a:solidFill>
                <a:latin typeface="Calibri"/>
              </a:rPr>
              <a:t>Reúna todos os benefícios: 'Você vai ter X, Y e Z. Faz sentido avançarmos?'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2953512"/>
            <a:ext cx="4663440" cy="822960"/>
          </a:xfrm>
          <a:prstGeom prst="rect">
            <a:avLst/>
          </a:prstGeom>
          <a:solidFill>
            <a:srgbClr val="38121E"/>
          </a:solidFill>
          <a:ln w="9525">
            <a:solidFill>
              <a:srgbClr val="C8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26280" y="3008376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A84B"/>
                </a:solidFill>
                <a:latin typeface="Calibri"/>
              </a:rPr>
              <a:t>FECHAMENTO POR ESCOLHA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3282696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DCCB"/>
                </a:solidFill>
                <a:latin typeface="Calibri"/>
              </a:rPr>
              <a:t>'Você prefere começar esta semana ou na próxima?' Elimine o sim/não.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89120" y="3831336"/>
            <a:ext cx="4663440" cy="822960"/>
          </a:xfrm>
          <a:prstGeom prst="rect">
            <a:avLst/>
          </a:prstGeom>
          <a:solidFill>
            <a:srgbClr val="38121E"/>
          </a:solidFill>
          <a:ln w="9525">
            <a:solidFill>
              <a:srgbClr val="C8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26280" y="38862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A84B"/>
                </a:solidFill>
                <a:latin typeface="Calibri"/>
              </a:rPr>
              <a:t>SILÊNCIO ESTRATÉGICO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4160520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DCCB"/>
                </a:solidFill>
                <a:latin typeface="Calibri"/>
              </a:rPr>
              <a:t>Após a oferta, cale-se. Quem fala primeiro, perde vantagem. Aguarde.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486460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A602A"/>
                </a:solidFill>
                <a:latin typeface="Calibri"/>
              </a:rPr>
              <a:t>CONVERSÃO — ETAPA 07</a:t>
            </a:r>
          </a:p>
        </p:txBody>
      </p:sp>
      <p:sp>
        <p:nvSpPr>
          <p:cNvPr id="32" name="Block Arc 31"/>
          <p:cNvSpPr/>
          <p:nvPr/>
        </p:nvSpPr>
        <p:spPr>
          <a:xfrm>
            <a:off x="411480" y="4919472"/>
            <a:ext cx="3063240" cy="1828"/>
          </a:xfrm>
          <a:prstGeom prst="blockArc">
            <a:avLst/>
          </a:prstGeom>
          <a:noFill/>
          <a:ln w="5080">
            <a:solidFill>
              <a:srgbClr val="7A6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137160"/>
            <a:ext cx="320040" cy="36576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137160"/>
            <a:ext cx="36576" cy="32004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69748"/>
            <a:ext cx="320040" cy="13716"/>
          </a:xfrm>
          <a:prstGeom prst="rect">
            <a:avLst/>
          </a:prstGeom>
          <a:solidFill>
            <a:srgbClr val="7A6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201168"/>
            <a:ext cx="416966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7A602A"/>
                </a:solidFill>
                <a:latin typeface="Calibri"/>
              </a:rPr>
              <a:t>CONVERSÃO — ETAPA 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0" y="269748"/>
            <a:ext cx="320040" cy="13716"/>
          </a:xfrm>
          <a:prstGeom prst="rect">
            <a:avLst/>
          </a:prstGeom>
          <a:solidFill>
            <a:srgbClr val="7A6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457200"/>
            <a:ext cx="3840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8A84B"/>
                </a:solidFill>
                <a:latin typeface="Calibri"/>
              </a:rPr>
              <a:t>FOLLOW-UP
ESTRATÉGICO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74320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4800" b="1" i="0">
                <a:solidFill>
                  <a:srgbClr val="7A602A"/>
                </a:solidFill>
                <a:latin typeface="Calibri"/>
              </a:rPr>
              <a:t>08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269748"/>
            <a:ext cx="320040" cy="13716"/>
          </a:xfrm>
          <a:prstGeom prst="rect">
            <a:avLst/>
          </a:prstGeom>
          <a:solidFill>
            <a:srgbClr val="7A6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201168"/>
            <a:ext cx="188366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7A602A"/>
                </a:solidFill>
                <a:latin typeface="Calibri"/>
              </a:rPr>
              <a:t>CONVERSÃO · ETAPA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66760" y="269748"/>
            <a:ext cx="320040" cy="13716"/>
          </a:xfrm>
          <a:prstGeom prst="rect">
            <a:avLst/>
          </a:prstGeom>
          <a:solidFill>
            <a:srgbClr val="7A6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353312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8DCCB"/>
                </a:solidFill>
                <a:latin typeface="Calibri"/>
              </a:rPr>
              <a:t>"A maioria das vendas acontece entre o 5º e o 12º contato. A maioria desiste no 2º."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1353312"/>
            <a:ext cx="64008" cy="82296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353312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8DCCB"/>
                </a:solidFill>
                <a:latin typeface="Calibri"/>
              </a:rPr>
              <a:t>"A maioria das vendas acontece entre o 5º e o 12º contato. A maioria desiste no 2º."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286000"/>
            <a:ext cx="3794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9880"/>
                </a:solidFill>
                <a:latin typeface="Calibri"/>
              </a:rPr>
              <a:t>Follow-up não é insistência. É comprometimento com o resultado do cliente. A distinção está na intenção.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320040"/>
            <a:ext cx="4663440" cy="822960"/>
          </a:xfrm>
          <a:prstGeom prst="rect">
            <a:avLst/>
          </a:prstGeom>
          <a:solidFill>
            <a:srgbClr val="38121E"/>
          </a:solidFill>
          <a:ln w="9525">
            <a:solidFill>
              <a:srgbClr val="C8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374904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A84B"/>
                </a:solidFill>
                <a:latin typeface="Calibri"/>
              </a:rPr>
              <a:t>1  Dia 1 — Agradecimento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649224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DCCB"/>
                </a:solidFill>
                <a:latin typeface="Calibri"/>
              </a:rPr>
              <a:t>Mensagem personalizada. Sem pressão.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1197864"/>
            <a:ext cx="4663440" cy="822960"/>
          </a:xfrm>
          <a:prstGeom prst="rect">
            <a:avLst/>
          </a:prstGeom>
          <a:solidFill>
            <a:srgbClr val="38121E"/>
          </a:solidFill>
          <a:ln w="9525">
            <a:solidFill>
              <a:srgbClr val="C8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125272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A84B"/>
                </a:solidFill>
                <a:latin typeface="Calibri"/>
              </a:rPr>
              <a:t>2  Dia 2 — Valor adicional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1527048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DCCB"/>
                </a:solidFill>
                <a:latin typeface="Calibri"/>
              </a:rPr>
              <a:t>Envie conteúdo útil ligado à conversa.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2075688"/>
            <a:ext cx="4663440" cy="822960"/>
          </a:xfrm>
          <a:prstGeom prst="rect">
            <a:avLst/>
          </a:prstGeom>
          <a:solidFill>
            <a:srgbClr val="38121E"/>
          </a:solidFill>
          <a:ln w="9525">
            <a:solidFill>
              <a:srgbClr val="C8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213055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A84B"/>
                </a:solidFill>
                <a:latin typeface="Calibri"/>
              </a:rPr>
              <a:t>3  Dia 4 — Check-in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2404872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DCCB"/>
                </a:solidFill>
                <a:latin typeface="Calibri"/>
              </a:rPr>
              <a:t>Pergunte se surgiu alguma dúvida.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2953512"/>
            <a:ext cx="4663440" cy="822960"/>
          </a:xfrm>
          <a:prstGeom prst="rect">
            <a:avLst/>
          </a:prstGeom>
          <a:solidFill>
            <a:srgbClr val="38121E"/>
          </a:solidFill>
          <a:ln w="9525">
            <a:solidFill>
              <a:srgbClr val="C8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26280" y="3008376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A84B"/>
                </a:solidFill>
                <a:latin typeface="Calibri"/>
              </a:rPr>
              <a:t>4  Dia 7 — Caso de sucesso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3282696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DCCB"/>
                </a:solidFill>
                <a:latin typeface="Calibri"/>
              </a:rPr>
              <a:t>Compartilhe resultado de cliente similar.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89120" y="3831336"/>
            <a:ext cx="4663440" cy="822960"/>
          </a:xfrm>
          <a:prstGeom prst="rect">
            <a:avLst/>
          </a:prstGeom>
          <a:solidFill>
            <a:srgbClr val="38121E"/>
          </a:solidFill>
          <a:ln w="9525">
            <a:solidFill>
              <a:srgbClr val="C8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26280" y="38862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A84B"/>
                </a:solidFill>
                <a:latin typeface="Calibri"/>
              </a:rPr>
              <a:t>5  Dia 14 — Urgência real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4160520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DCCB"/>
                </a:solidFill>
                <a:latin typeface="Calibri"/>
              </a:rPr>
              <a:t>Lembrete de condição ou prazo concreto.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486460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A602A"/>
                </a:solidFill>
                <a:latin typeface="Calibri"/>
              </a:rPr>
              <a:t>CONVERSÃO — ETAPA 08</a:t>
            </a:r>
          </a:p>
        </p:txBody>
      </p:sp>
      <p:sp>
        <p:nvSpPr>
          <p:cNvPr id="32" name="Block Arc 31"/>
          <p:cNvSpPr/>
          <p:nvPr/>
        </p:nvSpPr>
        <p:spPr>
          <a:xfrm>
            <a:off x="411480" y="4919472"/>
            <a:ext cx="3063240" cy="1828"/>
          </a:xfrm>
          <a:prstGeom prst="blockArc">
            <a:avLst/>
          </a:prstGeom>
          <a:noFill/>
          <a:ln w="5080">
            <a:solidFill>
              <a:srgbClr val="7A6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137160"/>
            <a:ext cx="320040" cy="36576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137160"/>
            <a:ext cx="36576" cy="32004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69748"/>
            <a:ext cx="320040" cy="13716"/>
          </a:xfrm>
          <a:prstGeom prst="rect">
            <a:avLst/>
          </a:prstGeom>
          <a:solidFill>
            <a:srgbClr val="7A6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201168"/>
            <a:ext cx="746150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7A602A"/>
                </a:solidFill>
                <a:latin typeface="Calibri"/>
              </a:rPr>
              <a:t>CONVERSÃO — ERROS CRÍTICOS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0" y="269748"/>
            <a:ext cx="320040" cy="13716"/>
          </a:xfrm>
          <a:prstGeom prst="rect">
            <a:avLst/>
          </a:prstGeom>
          <a:solidFill>
            <a:srgbClr val="7A6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8DCCB"/>
                </a:solidFill>
                <a:latin typeface="Calibri"/>
              </a:rPr>
              <a:t>ERROS 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4572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8A84B"/>
                </a:solidFill>
                <a:latin typeface="Calibri"/>
              </a:rPr>
              <a:t>CUSTAM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4572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8DCCB"/>
                </a:solidFill>
                <a:latin typeface="Calibri"/>
              </a:rPr>
              <a:t>VENDAS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43000"/>
            <a:ext cx="4160520" cy="1234440"/>
          </a:xfrm>
          <a:prstGeom prst="rect">
            <a:avLst/>
          </a:prstGeom>
          <a:solidFill>
            <a:srgbClr val="38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25272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A84B"/>
                </a:solidFill>
                <a:latin typeface="Calibri"/>
              </a:rPr>
              <a:t>Falar mais do que escutar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618488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9880"/>
                </a:solidFill>
                <a:latin typeface="Calibri"/>
              </a:rPr>
              <a:t>O cliente revela o caminho do fechamento. Vendedor que fala demais, ouve de menos.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26280" y="1143000"/>
            <a:ext cx="4160520" cy="1234440"/>
          </a:xfrm>
          <a:prstGeom prst="rect">
            <a:avLst/>
          </a:prstGeom>
          <a:solidFill>
            <a:srgbClr val="38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25272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F0E5"/>
                </a:solidFill>
                <a:latin typeface="Calibri"/>
              </a:rPr>
              <a:t>Pular o diagnóstico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1618488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9880"/>
                </a:solidFill>
                <a:latin typeface="Calibri"/>
              </a:rPr>
              <a:t>Apresentar solução sem entender o problema real. Resultado: oferta que não conecta.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450592"/>
            <a:ext cx="4160520" cy="1234440"/>
          </a:xfrm>
          <a:prstGeom prst="rect">
            <a:avLst/>
          </a:prstGeom>
          <a:solidFill>
            <a:srgbClr val="38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56032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A84B"/>
                </a:solidFill>
                <a:latin typeface="Calibri"/>
              </a:rPr>
              <a:t>Ter medo do preço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292608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9880"/>
                </a:solidFill>
                <a:latin typeface="Calibri"/>
              </a:rPr>
              <a:t>Hesitar ao falar o valor contamina a percepção do cliente. Diga com convicção.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26280" y="2450592"/>
            <a:ext cx="4160520" cy="1234440"/>
          </a:xfrm>
          <a:prstGeom prst="rect">
            <a:avLst/>
          </a:prstGeom>
          <a:solidFill>
            <a:srgbClr val="38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256032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F0E5"/>
                </a:solidFill>
                <a:latin typeface="Calibri"/>
              </a:rPr>
              <a:t>Abandonar no follow-up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292608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9880"/>
                </a:solidFill>
                <a:latin typeface="Calibri"/>
              </a:rPr>
              <a:t>Desistir após o primeiro não. A venda começa onde a maioria para.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758184"/>
            <a:ext cx="4160520" cy="1234440"/>
          </a:xfrm>
          <a:prstGeom prst="rect">
            <a:avLst/>
          </a:prstGeom>
          <a:solidFill>
            <a:srgbClr val="38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386791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A84B"/>
                </a:solidFill>
                <a:latin typeface="Calibri"/>
              </a:rPr>
              <a:t>Vender para quem não decide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4233672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9880"/>
                </a:solidFill>
                <a:latin typeface="Calibri"/>
              </a:rPr>
              <a:t>Investir energia em quem não tem poder de compra. Qualifique antes.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26280" y="3758184"/>
            <a:ext cx="4160520" cy="1234440"/>
          </a:xfrm>
          <a:prstGeom prst="rect">
            <a:avLst/>
          </a:prstGeom>
          <a:solidFill>
            <a:srgbClr val="38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0" y="386791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F0E5"/>
                </a:solidFill>
                <a:latin typeface="Calibri"/>
              </a:rPr>
              <a:t>Não pedir o fechamento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4233672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9880"/>
                </a:solidFill>
                <a:latin typeface="Calibri"/>
              </a:rPr>
              <a:t>Esperar o cliente fechar sozinho. A iniciativa é sempre do vendedor.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137160"/>
            <a:ext cx="320040" cy="36576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137160"/>
            <a:ext cx="36576" cy="32004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69748"/>
            <a:ext cx="320040" cy="13716"/>
          </a:xfrm>
          <a:prstGeom prst="rect">
            <a:avLst/>
          </a:prstGeom>
          <a:solidFill>
            <a:srgbClr val="7A6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201168"/>
            <a:ext cx="416966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7A602A"/>
                </a:solidFill>
                <a:latin typeface="Calibri"/>
              </a:rPr>
              <a:t>ENCERRAMENTO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0" y="269748"/>
            <a:ext cx="320040" cy="13716"/>
          </a:xfrm>
          <a:prstGeom prst="rect">
            <a:avLst/>
          </a:prstGeom>
          <a:solidFill>
            <a:srgbClr val="7A6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50292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8DCCB"/>
                </a:solidFill>
                <a:latin typeface="Calibri"/>
              </a:rPr>
              <a:t>O JOGO É LONGO.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09728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C8A84B"/>
                </a:solidFill>
                <a:latin typeface="Calibri"/>
              </a:rPr>
              <a:t>A ESCOLHA É DIÁRIA.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783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A84B"/>
                </a:solidFill>
                <a:latin typeface="Arial Unicode MS"/>
              </a:rPr>
              <a:t>——  ◆◇◆  ——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1488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DCCB"/>
                </a:solidFill>
                <a:latin typeface="Calibri"/>
              </a:rPr>
              <a:t>Você veio aqui com uma habilidade subutilizada.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4688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DCCB"/>
                </a:solidFill>
                <a:latin typeface="Calibri"/>
              </a:rPr>
              <a:t>Você sai com um sistema.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926080"/>
            <a:ext cx="1508760" cy="566928"/>
          </a:xfrm>
          <a:prstGeom prst="rect">
            <a:avLst/>
          </a:prstGeom>
          <a:noFill/>
          <a:ln w="9525">
            <a:solidFill>
              <a:srgbClr val="C8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971800"/>
            <a:ext cx="1508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8A84B"/>
                </a:solidFill>
                <a:latin typeface="Calibri"/>
              </a:rPr>
              <a:t>ATRAÇÃO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93392" y="2926080"/>
            <a:ext cx="1508760" cy="566928"/>
          </a:xfrm>
          <a:prstGeom prst="rect">
            <a:avLst/>
          </a:prstGeom>
          <a:noFill/>
          <a:ln w="9525">
            <a:solidFill>
              <a:srgbClr val="C8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93392" y="2971800"/>
            <a:ext cx="1508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8A84B"/>
                </a:solidFill>
                <a:latin typeface="Calibri"/>
              </a:rPr>
              <a:t>GERAÇÃO DE DEMANDA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75304" y="2926080"/>
            <a:ext cx="1508760" cy="566928"/>
          </a:xfrm>
          <a:prstGeom prst="rect">
            <a:avLst/>
          </a:prstGeom>
          <a:noFill/>
          <a:ln w="9525">
            <a:solidFill>
              <a:srgbClr val="C8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75304" y="2971800"/>
            <a:ext cx="1508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8A84B"/>
                </a:solidFill>
                <a:latin typeface="Calibri"/>
              </a:rPr>
              <a:t>CONVERSÃO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0640" y="320040"/>
            <a:ext cx="3611880" cy="3383280"/>
          </a:xfrm>
          <a:prstGeom prst="rect">
            <a:avLst/>
          </a:prstGeom>
          <a:solidFill>
            <a:srgbClr val="38121E"/>
          </a:solidFill>
          <a:ln w="9525">
            <a:solidFill>
              <a:srgbClr val="C8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0" y="502920"/>
            <a:ext cx="3611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602A"/>
                </a:solidFill>
                <a:latin typeface="Calibri"/>
              </a:rPr>
              <a:t>VOCÊ DECIDE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868680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E8DCCB"/>
                </a:solidFill>
                <a:latin typeface="Calibri"/>
              </a:rPr>
              <a:t>Ser comum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1325880"/>
            <a:ext cx="3611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A602A"/>
                </a:solidFill>
                <a:latin typeface="Calibri"/>
              </a:rPr>
              <a:t>— ou 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1645920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C8A84B"/>
                </a:solidFill>
                <a:latin typeface="Calibri"/>
              </a:rPr>
              <a:t>Ser Máquina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2395728"/>
            <a:ext cx="3611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A602A"/>
                </a:solidFill>
                <a:latin typeface="Calibri"/>
              </a:rPr>
              <a:t>EU ESCOLHO SER MÁQUINA.</a:t>
            </a:r>
          </a:p>
        </p:txBody>
      </p:sp>
      <p:pic>
        <p:nvPicPr>
          <p:cNvPr id="24" name="Picture 23" descr="rafa-ct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834640"/>
            <a:ext cx="3611880" cy="21031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